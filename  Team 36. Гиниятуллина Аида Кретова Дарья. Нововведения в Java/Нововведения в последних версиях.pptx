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6" r:id="rId10"/>
    <p:sldId id="265" r:id="rId11"/>
    <p:sldId id="267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136" autoAdjust="0"/>
    <p:restoredTop sz="94660"/>
  </p:normalViewPr>
  <p:slideViewPr>
    <p:cSldViewPr snapToGrid="0">
      <p:cViewPr varScale="1">
        <p:scale>
          <a:sx n="38" d="100"/>
          <a:sy n="38" d="100"/>
        </p:scale>
        <p:origin x="62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5BDC9-E07F-DCB3-4EA3-2A5DA23D4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F310D9-F2CB-98DB-D94F-96EB2C830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2D7E1C-6FDE-EE87-F6EA-C6A7F47F0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1C2290-8754-E9D0-0608-BFAE57DC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5EFBE8-2BCF-E3FC-7807-067827D5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92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CC374-E293-9C7B-B454-97C5157F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579826-2989-D52B-81E1-471E20945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C8FD57-60E5-004E-A118-664C39228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8270E5-94D5-1236-65EE-DA17677E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89668-BD96-68D6-DA0C-640C9A76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05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500BCD-3C90-2353-50AA-A8755615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3D6BE4-1E11-FA2B-BCA2-D663249ED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34B48-A26E-0FD0-59C7-03E18D93A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ABC988-302A-D3A0-E7C4-AC895CD2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FE4847-9F5C-1529-EE0A-9CFDE51C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139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1AF8F-3316-5D4D-060B-1D99C4E2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B58ED-E6B5-2A6C-94E4-61442FC6A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443374-89C5-0ECF-CE1C-80245C5B6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264105-E416-CB2A-D3D4-46BAC4FFF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9FB98E-14AA-9FCC-725C-E603BDB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7E16EC-2B88-C0FB-65C3-031B1C60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213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47A22-78FB-38C2-B63D-B7A3F6D4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95B2B0-C107-57A8-0339-4E6451515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F00792-857F-9AA5-5508-E9C477FBF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8DC99D2-EFA8-D8AC-03B3-171C85B2D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0895318-9CB1-6B5F-2A92-9B7AC475E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0106782-4521-9A38-6D56-F5F36476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3AECF7-A99E-DC2D-163D-53D811E2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C61B4F-3B91-3BC6-0C0C-0BD7154E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92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D8233-7A6E-A9AE-2169-E2C0DF38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CB7725-DD33-0CAB-56A1-487F1830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96C3C7A-12CC-A757-0763-1437A45B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3BAF914-EFF4-96B0-A037-A47D2BF1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2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6DAB7CD-3A92-1C79-F168-475A517F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4C1061-37D0-1C60-43E9-FAFE31C6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9DA4D6-7BD6-E428-C9DC-7D1D696A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5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35271-A154-9235-E8A7-DDBE122C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93479C-8A3D-6437-74AD-12167522F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3B3AA1-E887-4C8B-B041-D2A796092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F1065C-A895-D914-1D2E-6418F3AD5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EF5A21-CDB0-9724-8A85-A794C8F8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5C7DF3-9D9A-DE96-47AE-9C8356DB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019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98583-BD9C-755E-21E9-534C2FB63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A89002-B1CC-74EB-7783-CCAEAAEAE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31C938-79DD-B3D5-6575-D7D51FAF6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80A63C-91B2-F58B-BA5E-27C71E80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8581E6-E6E3-27A3-A5BB-71E9E13C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94D7A0-E6BC-F4F3-4AC1-4D0B8BE3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928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159F6-AA54-AC4F-C756-3D76D2DF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EE15E78-9A7C-8D3B-807F-061D92309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9FEEDD-AFEA-A97F-1496-64D42D8D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C11F36-A9AC-BA8E-7749-C87E8775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7D46B7-798C-8FF5-397E-9EFE452D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893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BF56EDF-2866-F024-D052-F0BA45C51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74EF67-CCAD-9060-3607-AD734F17C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A3808-ABAB-C126-93B7-BDA19A14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5BC36A-4DFB-B2DF-46D0-1EE055D26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A27241-4CD0-7A38-A6DA-B321BC39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03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61D2E-7729-C1D4-6C08-F95D12246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28C527-F87C-1C13-238C-CF7E7EFC1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DACA6-3870-038A-E289-E7C36993D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B621A-B30C-43D2-82C0-AC6262ACECA7}" type="datetimeFigureOut">
              <a:rPr lang="ru-RU" smtClean="0"/>
              <a:t>13.12.2025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D014A6-1B8B-DD16-AF80-E3699F587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AB5B51-32E5-D716-28D1-ADE8B4B50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5427E-0C6F-4CA1-9EBC-16C79E951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75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325AD-C952-E1B2-EF94-427C0BE6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4074"/>
            <a:ext cx="9144000" cy="2122099"/>
          </a:xfrm>
        </p:spPr>
        <p:txBody>
          <a:bodyPr/>
          <a:lstStyle/>
          <a:p>
            <a:r>
              <a:rPr lang="ru-RU" dirty="0"/>
              <a:t>Нововведения </a:t>
            </a:r>
            <a:br>
              <a:rPr lang="ru-RU" dirty="0"/>
            </a:br>
            <a:r>
              <a:rPr lang="ru-RU" dirty="0"/>
              <a:t>в последних версиях.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B7D69B-D5F3-1680-70E2-BD080347A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3495"/>
            <a:ext cx="9144000" cy="1151625"/>
          </a:xfrm>
        </p:spPr>
        <p:txBody>
          <a:bodyPr/>
          <a:lstStyle/>
          <a:p>
            <a:r>
              <a:rPr lang="ru-RU" u="sng" dirty="0"/>
              <a:t>докладчики:</a:t>
            </a:r>
            <a:r>
              <a:rPr lang="ru-RU" dirty="0"/>
              <a:t> Гиниятуллина Аида, Кретова Дарья</a:t>
            </a:r>
          </a:p>
        </p:txBody>
      </p:sp>
    </p:spTree>
    <p:extLst>
      <p:ext uri="{BB962C8B-B14F-4D97-AF65-F5344CB8AC3E}">
        <p14:creationId xmlns:p14="http://schemas.microsoft.com/office/powerpoint/2010/main" val="2344533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B7D07-87FB-0EC8-E67D-592090F5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Версии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2D0A12-B658-9C57-0673-6E9F0F5F7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200" y="310315"/>
            <a:ext cx="5181600" cy="6237367"/>
          </a:xfrm>
        </p:spPr>
        <p:txBody>
          <a:bodyPr>
            <a:noAutofit/>
          </a:bodyPr>
          <a:lstStyle/>
          <a:p>
            <a:r>
              <a:rPr lang="en-US" sz="2600" dirty="0"/>
              <a:t>Java 1.0 (1996)</a:t>
            </a:r>
            <a:endParaRPr lang="ru-RU" sz="2600" dirty="0"/>
          </a:p>
          <a:p>
            <a:pPr marL="0" indent="0">
              <a:buNone/>
            </a:pPr>
            <a:r>
              <a:rPr lang="en-US" sz="2600" dirty="0"/>
              <a:t>…</a:t>
            </a:r>
            <a:endParaRPr lang="ru-RU" sz="2600" dirty="0"/>
          </a:p>
          <a:p>
            <a:pPr marL="0" indent="0">
              <a:buNone/>
            </a:pPr>
            <a:r>
              <a:rPr lang="ru-RU" sz="2600" dirty="0"/>
              <a:t>*ребрендинг версий (2014)*</a:t>
            </a:r>
          </a:p>
          <a:p>
            <a:pPr marL="0" indent="0">
              <a:buNone/>
            </a:pPr>
            <a:r>
              <a:rPr lang="ru-RU" sz="2600" dirty="0"/>
              <a:t>…</a:t>
            </a:r>
          </a:p>
          <a:p>
            <a:pPr marL="0" indent="0">
              <a:buNone/>
            </a:pPr>
            <a:r>
              <a:rPr lang="ru-RU" sz="2600" dirty="0"/>
              <a:t>*новый цикл разработки(2017)*</a:t>
            </a:r>
          </a:p>
          <a:p>
            <a:pPr marL="0" indent="0">
              <a:buNone/>
            </a:pPr>
            <a:r>
              <a:rPr lang="ru-RU" sz="2600" dirty="0"/>
              <a:t>…</a:t>
            </a:r>
          </a:p>
          <a:p>
            <a:r>
              <a:rPr lang="en-US" sz="2600" b="1" dirty="0"/>
              <a:t>Java 17 </a:t>
            </a:r>
            <a:r>
              <a:rPr lang="en-US" sz="2600" dirty="0"/>
              <a:t>(</a:t>
            </a:r>
            <a:r>
              <a:rPr lang="ru-RU" sz="2600" dirty="0"/>
              <a:t>сентябрь 2021) </a:t>
            </a:r>
            <a:r>
              <a:rPr lang="en-US" sz="2600" u="sng" dirty="0"/>
              <a:t>LTS*</a:t>
            </a:r>
            <a:endParaRPr lang="ru-RU" sz="2600" u="sng" dirty="0"/>
          </a:p>
          <a:p>
            <a:pPr marL="0" indent="0">
              <a:buNone/>
            </a:pPr>
            <a:r>
              <a:rPr lang="ru-RU" sz="2600" dirty="0"/>
              <a:t>...</a:t>
            </a:r>
          </a:p>
          <a:p>
            <a:r>
              <a:rPr lang="en-US" sz="2600" b="1" dirty="0"/>
              <a:t>Java 21 </a:t>
            </a:r>
            <a:r>
              <a:rPr lang="en-US" sz="2600" dirty="0"/>
              <a:t>(</a:t>
            </a:r>
            <a:r>
              <a:rPr lang="ru-RU" sz="2600" dirty="0"/>
              <a:t>сентябрь 2023) </a:t>
            </a:r>
            <a:r>
              <a:rPr lang="en-US" sz="2600" u="sng" dirty="0"/>
              <a:t>LTS*</a:t>
            </a:r>
            <a:endParaRPr lang="ru-RU" sz="2600" u="sng" dirty="0"/>
          </a:p>
          <a:p>
            <a:r>
              <a:rPr lang="en-US" sz="2600" dirty="0"/>
              <a:t>Java 22 (</a:t>
            </a:r>
            <a:r>
              <a:rPr lang="ru-RU" sz="2600" dirty="0"/>
              <a:t>март 2024)</a:t>
            </a:r>
          </a:p>
          <a:p>
            <a:r>
              <a:rPr lang="en-US" sz="2600" dirty="0"/>
              <a:t>Java 23 </a:t>
            </a:r>
            <a:r>
              <a:rPr lang="ru-RU" sz="2600" dirty="0"/>
              <a:t>(сентябрь 2024)</a:t>
            </a:r>
          </a:p>
          <a:p>
            <a:r>
              <a:rPr lang="en-US" sz="2600" dirty="0"/>
              <a:t>Java 24 (</a:t>
            </a:r>
            <a:r>
              <a:rPr lang="ru-RU" sz="2600" dirty="0"/>
              <a:t>март 2025)</a:t>
            </a:r>
          </a:p>
          <a:p>
            <a:r>
              <a:rPr lang="en-US" sz="2600" b="1" dirty="0"/>
              <a:t>Java 25 </a:t>
            </a:r>
            <a:r>
              <a:rPr lang="en-US" sz="2600" dirty="0"/>
              <a:t>(</a:t>
            </a:r>
            <a:r>
              <a:rPr lang="ru-RU" sz="2600" dirty="0"/>
              <a:t>сентябрь 2025)</a:t>
            </a:r>
            <a:r>
              <a:rPr lang="en-US" sz="2600" dirty="0"/>
              <a:t> </a:t>
            </a:r>
            <a:r>
              <a:rPr lang="en-US" sz="2600" u="sng" dirty="0"/>
              <a:t>LTS*</a:t>
            </a:r>
            <a:endParaRPr lang="ru-RU" sz="2600" u="sng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595446-F88D-5F25-E0D1-4FCBE41C0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6108" y="3230879"/>
            <a:ext cx="4728411" cy="3261995"/>
          </a:xfrm>
        </p:spPr>
        <p:txBody>
          <a:bodyPr>
            <a:noAutofit/>
          </a:bodyPr>
          <a:lstStyle/>
          <a:p>
            <a:r>
              <a:rPr lang="en-US" sz="2600" u="sng" dirty="0"/>
              <a:t>LTS</a:t>
            </a:r>
            <a:r>
              <a:rPr lang="ru-RU" sz="2600" u="sng" dirty="0"/>
              <a:t>*</a:t>
            </a:r>
            <a:r>
              <a:rPr lang="en-US" sz="2600" dirty="0"/>
              <a:t> – </a:t>
            </a:r>
            <a:r>
              <a:rPr lang="ru-RU" sz="2600" dirty="0"/>
              <a:t>версии с длительной поддержкой</a:t>
            </a:r>
          </a:p>
          <a:p>
            <a:pPr marL="0" indent="0">
              <a:buNone/>
            </a:pPr>
            <a:r>
              <a:rPr lang="ru-RU" sz="2600" dirty="0"/>
              <a:t>   (</a:t>
            </a:r>
            <a:r>
              <a:rPr lang="en-US" sz="2600" dirty="0"/>
              <a:t>Java 8</a:t>
            </a:r>
            <a:r>
              <a:rPr lang="ru-RU" sz="2600" dirty="0"/>
              <a:t>, 11, 17, 21</a:t>
            </a:r>
            <a:r>
              <a:rPr lang="en-US" sz="2600" dirty="0"/>
              <a:t>, 25</a:t>
            </a:r>
            <a:r>
              <a:rPr lang="ru-RU" sz="2600" dirty="0"/>
              <a:t>)</a:t>
            </a:r>
            <a:r>
              <a:rPr lang="en-US" sz="2600" dirty="0"/>
              <a:t> </a:t>
            </a:r>
            <a:endParaRPr lang="ru-RU" sz="2600" dirty="0"/>
          </a:p>
          <a:p>
            <a:pPr marL="0" indent="0">
              <a:buNone/>
            </a:pPr>
            <a:r>
              <a:rPr lang="ru-RU" sz="2600" dirty="0"/>
              <a:t>   </a:t>
            </a:r>
            <a:r>
              <a:rPr lang="en-US" sz="2600" dirty="0"/>
              <a:t>(</a:t>
            </a:r>
            <a:r>
              <a:rPr lang="ru-RU" sz="2600" dirty="0"/>
              <a:t>выходят каждые 2 года)</a:t>
            </a:r>
          </a:p>
          <a:p>
            <a:r>
              <a:rPr lang="ru-RU" sz="2600" dirty="0"/>
              <a:t>инкрементальные релизы – выпускаются каждые 6 месяцев, поддерживаются до следующего релиза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7E969062-6528-D540-FC71-9F9C3259BA35}"/>
              </a:ext>
            </a:extLst>
          </p:cNvPr>
          <p:cNvCxnSpPr>
            <a:cxnSpLocks/>
          </p:cNvCxnSpPr>
          <p:nvPr/>
        </p:nvCxnSpPr>
        <p:spPr>
          <a:xfrm>
            <a:off x="4183812" y="1026543"/>
            <a:ext cx="14316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30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AA96F-BD58-38B2-3E1C-1B24EFFF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JEP (Java Enhancement Proposal)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B2914-DB05-0607-193B-B747C33101AD}"/>
              </a:ext>
            </a:extLst>
          </p:cNvPr>
          <p:cNvSpPr txBox="1"/>
          <p:nvPr/>
        </p:nvSpPr>
        <p:spPr>
          <a:xfrm>
            <a:off x="838200" y="3670531"/>
            <a:ext cx="859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JEP</a:t>
            </a:r>
            <a:endParaRPr lang="ru-RU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66119-53F6-6838-830A-B70ADAF4E415}"/>
              </a:ext>
            </a:extLst>
          </p:cNvPr>
          <p:cNvSpPr txBox="1"/>
          <p:nvPr/>
        </p:nvSpPr>
        <p:spPr>
          <a:xfrm>
            <a:off x="1953652" y="2475060"/>
            <a:ext cx="417133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/>
              <a:t>Проблемное обоснование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886AB-E6EA-D10B-23A2-70E5D6ABCE23}"/>
              </a:ext>
            </a:extLst>
          </p:cNvPr>
          <p:cNvSpPr txBox="1"/>
          <p:nvPr/>
        </p:nvSpPr>
        <p:spPr>
          <a:xfrm>
            <a:off x="1953652" y="3295331"/>
            <a:ext cx="24000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/>
              <a:t>Цели и </a:t>
            </a:r>
            <a:r>
              <a:rPr lang="ru-RU" sz="2600" dirty="0" err="1"/>
              <a:t>нецели</a:t>
            </a:r>
            <a:endParaRPr lang="ru-RU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0FC6F-70FA-9FF3-8095-04ABA00E34D1}"/>
              </a:ext>
            </a:extLst>
          </p:cNvPr>
          <p:cNvSpPr txBox="1"/>
          <p:nvPr/>
        </p:nvSpPr>
        <p:spPr>
          <a:xfrm>
            <a:off x="1953652" y="4180064"/>
            <a:ext cx="441018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/>
              <a:t>Технические спецификации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112EC0-D0BB-EA2A-09D5-02B4BEDC23D5}"/>
              </a:ext>
            </a:extLst>
          </p:cNvPr>
          <p:cNvSpPr txBox="1"/>
          <p:nvPr/>
        </p:nvSpPr>
        <p:spPr>
          <a:xfrm>
            <a:off x="1953652" y="4988760"/>
            <a:ext cx="228883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/>
              <a:t>Альтернативы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384721-A8AE-24E9-01EE-760AE17F527F}"/>
              </a:ext>
            </a:extLst>
          </p:cNvPr>
          <p:cNvSpPr txBox="1"/>
          <p:nvPr/>
        </p:nvSpPr>
        <p:spPr>
          <a:xfrm>
            <a:off x="838200" y="1556667"/>
            <a:ext cx="20323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u="sng" dirty="0"/>
              <a:t>структура:</a:t>
            </a:r>
          </a:p>
        </p:txBody>
      </p: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0E6FDCE0-A914-38CB-73E2-8AD80C2F3AC8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1136185" y="2853064"/>
            <a:ext cx="949249" cy="6856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BBCFE8B2-D0D2-D233-FB9D-372F8C8715D4}"/>
              </a:ext>
            </a:extLst>
          </p:cNvPr>
          <p:cNvCxnSpPr>
            <a:stCxn id="5" idx="2"/>
            <a:endCxn id="9" idx="1"/>
          </p:cNvCxnSpPr>
          <p:nvPr/>
        </p:nvCxnSpPr>
        <p:spPr>
          <a:xfrm rot="16200000" flipH="1">
            <a:off x="1151749" y="4433079"/>
            <a:ext cx="918120" cy="6856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09B3F498-E9D3-3C03-4930-222A9AB2338E}"/>
              </a:ext>
            </a:extLst>
          </p:cNvPr>
          <p:cNvCxnSpPr>
            <a:stCxn id="5" idx="0"/>
            <a:endCxn id="7" idx="1"/>
          </p:cNvCxnSpPr>
          <p:nvPr/>
        </p:nvCxnSpPr>
        <p:spPr>
          <a:xfrm rot="5400000" flipH="1" flipV="1">
            <a:off x="1546320" y="3263199"/>
            <a:ext cx="128978" cy="6856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FC3DAA0C-BF58-02E8-A613-752B05EA5045}"/>
              </a:ext>
            </a:extLst>
          </p:cNvPr>
          <p:cNvCxnSpPr>
            <a:stCxn id="5" idx="2"/>
            <a:endCxn id="8" idx="1"/>
          </p:cNvCxnSpPr>
          <p:nvPr/>
        </p:nvCxnSpPr>
        <p:spPr>
          <a:xfrm rot="16200000" flipH="1">
            <a:off x="1556097" y="4028731"/>
            <a:ext cx="109424" cy="6856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39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AA96F-BD58-38B2-3E1C-1B24EFFF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JEP (Java Enhancement Proposal)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B2914-DB05-0607-193B-B747C33101AD}"/>
              </a:ext>
            </a:extLst>
          </p:cNvPr>
          <p:cNvSpPr txBox="1"/>
          <p:nvPr/>
        </p:nvSpPr>
        <p:spPr>
          <a:xfrm>
            <a:off x="838200" y="3670531"/>
            <a:ext cx="859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JEP</a:t>
            </a:r>
            <a:endParaRPr lang="ru-RU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66119-53F6-6838-830A-B70ADAF4E415}"/>
              </a:ext>
            </a:extLst>
          </p:cNvPr>
          <p:cNvSpPr txBox="1"/>
          <p:nvPr/>
        </p:nvSpPr>
        <p:spPr>
          <a:xfrm>
            <a:off x="1953652" y="2475060"/>
            <a:ext cx="256140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/>
              <a:t>Языковые </a:t>
            </a:r>
            <a:r>
              <a:rPr lang="en-US" sz="2600" dirty="0"/>
              <a:t>JEP-</a:t>
            </a:r>
            <a:r>
              <a:rPr lang="ru-RU" sz="2600" dirty="0"/>
              <a:t>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886AB-E6EA-D10B-23A2-70E5D6ABCE23}"/>
              </a:ext>
            </a:extLst>
          </p:cNvPr>
          <p:cNvSpPr txBox="1"/>
          <p:nvPr/>
        </p:nvSpPr>
        <p:spPr>
          <a:xfrm>
            <a:off x="1953652" y="3295331"/>
            <a:ext cx="32779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/>
              <a:t>Библиотечные </a:t>
            </a:r>
            <a:r>
              <a:rPr lang="en-US" sz="2600" dirty="0"/>
              <a:t>JEP-</a:t>
            </a:r>
            <a:r>
              <a:rPr lang="ru-RU" sz="2600" dirty="0"/>
              <a:t>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0FC6F-70FA-9FF3-8095-04ABA00E34D1}"/>
              </a:ext>
            </a:extLst>
          </p:cNvPr>
          <p:cNvSpPr txBox="1"/>
          <p:nvPr/>
        </p:nvSpPr>
        <p:spPr>
          <a:xfrm>
            <a:off x="1953652" y="4180064"/>
            <a:ext cx="16332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JVM</a:t>
            </a:r>
            <a:r>
              <a:rPr lang="ru-RU" sz="2600" dirty="0"/>
              <a:t> </a:t>
            </a:r>
            <a:r>
              <a:rPr lang="en-US" sz="2600" dirty="0"/>
              <a:t>JEP-</a:t>
            </a:r>
            <a:r>
              <a:rPr lang="ru-RU" sz="2600" dirty="0"/>
              <a:t>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112EC0-D0BB-EA2A-09D5-02B4BEDC23D5}"/>
              </a:ext>
            </a:extLst>
          </p:cNvPr>
          <p:cNvSpPr txBox="1"/>
          <p:nvPr/>
        </p:nvSpPr>
        <p:spPr>
          <a:xfrm>
            <a:off x="1953652" y="4988760"/>
            <a:ext cx="39480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/>
              <a:t>Инфраструктурные </a:t>
            </a:r>
            <a:r>
              <a:rPr lang="en-US" sz="2600" dirty="0"/>
              <a:t>JEP-</a:t>
            </a:r>
            <a:r>
              <a:rPr lang="ru-RU" sz="2600" dirty="0"/>
              <a:t>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384721-A8AE-24E9-01EE-760AE17F527F}"/>
              </a:ext>
            </a:extLst>
          </p:cNvPr>
          <p:cNvSpPr txBox="1"/>
          <p:nvPr/>
        </p:nvSpPr>
        <p:spPr>
          <a:xfrm>
            <a:off x="838200" y="1556667"/>
            <a:ext cx="20323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u="sng" dirty="0"/>
              <a:t>категории:</a:t>
            </a:r>
          </a:p>
        </p:txBody>
      </p: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0E6FDCE0-A914-38CB-73E2-8AD80C2F3AC8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1136185" y="2853064"/>
            <a:ext cx="949249" cy="6856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BBCFE8B2-D0D2-D233-FB9D-372F8C8715D4}"/>
              </a:ext>
            </a:extLst>
          </p:cNvPr>
          <p:cNvCxnSpPr>
            <a:stCxn id="5" idx="2"/>
            <a:endCxn id="9" idx="1"/>
          </p:cNvCxnSpPr>
          <p:nvPr/>
        </p:nvCxnSpPr>
        <p:spPr>
          <a:xfrm rot="16200000" flipH="1">
            <a:off x="1151749" y="4433079"/>
            <a:ext cx="918120" cy="6856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09B3F498-E9D3-3C03-4930-222A9AB2338E}"/>
              </a:ext>
            </a:extLst>
          </p:cNvPr>
          <p:cNvCxnSpPr>
            <a:stCxn id="5" idx="0"/>
            <a:endCxn id="7" idx="1"/>
          </p:cNvCxnSpPr>
          <p:nvPr/>
        </p:nvCxnSpPr>
        <p:spPr>
          <a:xfrm rot="5400000" flipH="1" flipV="1">
            <a:off x="1546320" y="3263199"/>
            <a:ext cx="128978" cy="6856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FC3DAA0C-BF58-02E8-A613-752B05EA5045}"/>
              </a:ext>
            </a:extLst>
          </p:cNvPr>
          <p:cNvCxnSpPr>
            <a:stCxn id="5" idx="2"/>
            <a:endCxn id="8" idx="1"/>
          </p:cNvCxnSpPr>
          <p:nvPr/>
        </p:nvCxnSpPr>
        <p:spPr>
          <a:xfrm rot="16200000" flipH="1">
            <a:off x="1556097" y="4028731"/>
            <a:ext cx="109424" cy="6856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260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8EDC2-24EE-424F-C6BD-7471BDEC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ru-RU" dirty="0"/>
              <a:t>Поговорим про нововведения</a:t>
            </a:r>
          </a:p>
        </p:txBody>
      </p:sp>
    </p:spTree>
    <p:extLst>
      <p:ext uri="{BB962C8B-B14F-4D97-AF65-F5344CB8AC3E}">
        <p14:creationId xmlns:p14="http://schemas.microsoft.com/office/powerpoint/2010/main" val="364997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396C7F6-1EEA-FDC2-F057-CA1FC2AA1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507" y="687759"/>
            <a:ext cx="5181600" cy="54824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sz="2600" dirty="0"/>
              <a:t>*</a:t>
            </a:r>
            <a:r>
              <a:rPr lang="ru-RU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2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Verbose</a:t>
            </a:r>
            <a:r>
              <a:rPr lang="ru-RU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Boilerplate</a:t>
            </a:r>
            <a:r>
              <a:rPr lang="ru-RU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2600" dirty="0"/>
          </a:p>
        </p:txBody>
      </p:sp>
      <p:pic>
        <p:nvPicPr>
          <p:cNvPr id="6" name="Объект 5" descr="Изображение выглядит как текст, визитная карточка, снимок экрана, Шрифт">
            <a:extLst>
              <a:ext uri="{FF2B5EF4-FFF2-40B4-BE49-F238E27FC236}">
                <a16:creationId xmlns:a16="http://schemas.microsoft.com/office/drawing/2014/main" id="{FAB58427-6E6B-1F44-3221-DCB9717601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" t="10856" r="2343" b="10438"/>
          <a:stretch/>
        </p:blipFill>
        <p:spPr>
          <a:xfrm>
            <a:off x="673772" y="2164080"/>
            <a:ext cx="5181600" cy="283464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67B4C0-5328-2952-E19D-1A2D57F7855B}"/>
              </a:ext>
            </a:extLst>
          </p:cNvPr>
          <p:cNvSpPr txBox="1"/>
          <p:nvPr/>
        </p:nvSpPr>
        <p:spPr>
          <a:xfrm>
            <a:off x="673772" y="5514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600" u="sng" dirty="0"/>
              <a:t>Проблема: </a:t>
            </a:r>
          </a:p>
          <a:p>
            <a:pPr marL="0" indent="0">
              <a:buNone/>
            </a:pPr>
            <a:r>
              <a:rPr lang="ru-RU" sz="3600" b="1" dirty="0"/>
              <a:t>Болтливый код*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28567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396C7F6-1EEA-FDC2-F057-CA1FC2AA1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507" y="687759"/>
            <a:ext cx="5181600" cy="54824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sz="2600" dirty="0"/>
              <a:t>*</a:t>
            </a:r>
            <a:r>
              <a:rPr lang="ru-RU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2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Verbose</a:t>
            </a:r>
            <a:r>
              <a:rPr lang="ru-RU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Boilerplate</a:t>
            </a:r>
            <a:r>
              <a:rPr lang="ru-RU" sz="2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2600" dirty="0"/>
          </a:p>
        </p:txBody>
      </p:sp>
      <p:pic>
        <p:nvPicPr>
          <p:cNvPr id="6" name="Объект 5" descr="Изображение выглядит как текст, визитная карточка, снимок экрана, Шрифт">
            <a:extLst>
              <a:ext uri="{FF2B5EF4-FFF2-40B4-BE49-F238E27FC236}">
                <a16:creationId xmlns:a16="http://schemas.microsoft.com/office/drawing/2014/main" id="{FAB58427-6E6B-1F44-3221-DCB9717601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" t="10856" r="2343" b="10438"/>
          <a:stretch/>
        </p:blipFill>
        <p:spPr>
          <a:xfrm>
            <a:off x="673772" y="2164080"/>
            <a:ext cx="5181600" cy="2834640"/>
          </a:xfrm>
        </p:spPr>
      </p:pic>
      <p:pic>
        <p:nvPicPr>
          <p:cNvPr id="8" name="Рисунок 7" descr="Изображение выглядит как текст, Шриф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469A4D2-3D58-404B-D82A-EE7D72A85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" t="4977" r="2397" b="5606"/>
          <a:stretch/>
        </p:blipFill>
        <p:spPr>
          <a:xfrm>
            <a:off x="6032904" y="2164080"/>
            <a:ext cx="5485324" cy="23297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471C7E-96FA-0A60-EFDB-5078859B309C}"/>
              </a:ext>
            </a:extLst>
          </p:cNvPr>
          <p:cNvSpPr txBox="1"/>
          <p:nvPr/>
        </p:nvSpPr>
        <p:spPr>
          <a:xfrm>
            <a:off x="6032904" y="551434"/>
            <a:ext cx="58238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600" u="sng" dirty="0"/>
              <a:t>Решение: </a:t>
            </a:r>
          </a:p>
          <a:p>
            <a:pPr marL="0" indent="0">
              <a:buNone/>
            </a:pPr>
            <a:r>
              <a:rPr lang="en-US" sz="3600" b="1" dirty="0"/>
              <a:t>Record (Java 16, JEP 395</a:t>
            </a:r>
            <a:r>
              <a:rPr lang="ru-RU" sz="3600" b="1" dirty="0"/>
              <a:t>)</a:t>
            </a:r>
            <a:endParaRPr lang="ru-RU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7B4C0-5328-2952-E19D-1A2D57F7855B}"/>
              </a:ext>
            </a:extLst>
          </p:cNvPr>
          <p:cNvSpPr txBox="1"/>
          <p:nvPr/>
        </p:nvSpPr>
        <p:spPr>
          <a:xfrm>
            <a:off x="673772" y="5514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600" u="sng" dirty="0"/>
              <a:t>Проблема: </a:t>
            </a:r>
          </a:p>
          <a:p>
            <a:pPr marL="0" indent="0">
              <a:buNone/>
            </a:pPr>
            <a:r>
              <a:rPr lang="ru-RU" sz="3600" b="1" dirty="0"/>
              <a:t>Болтливый код*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346587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267B4C0-5328-2952-E19D-1A2D57F7855B}"/>
              </a:ext>
            </a:extLst>
          </p:cNvPr>
          <p:cNvSpPr txBox="1"/>
          <p:nvPr/>
        </p:nvSpPr>
        <p:spPr>
          <a:xfrm>
            <a:off x="673772" y="5514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/>
              <a:t>Record </a:t>
            </a:r>
            <a:r>
              <a:rPr lang="ru-RU" sz="3600" b="1" dirty="0"/>
              <a:t>в реальном проекте</a:t>
            </a:r>
          </a:p>
        </p:txBody>
      </p:sp>
      <p:pic>
        <p:nvPicPr>
          <p:cNvPr id="3" name="Рисунок 2" descr="Изображение выглядит как текст, снимок экран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5B4C8EB-17B2-F8CA-AFE8-FA423FDED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908" y="1350166"/>
            <a:ext cx="8124183" cy="510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55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267B4C0-5328-2952-E19D-1A2D57F7855B}"/>
              </a:ext>
            </a:extLst>
          </p:cNvPr>
          <p:cNvSpPr txBox="1"/>
          <p:nvPr/>
        </p:nvSpPr>
        <p:spPr>
          <a:xfrm>
            <a:off x="673772" y="551435"/>
            <a:ext cx="10878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/>
              <a:t>Pattern matching </a:t>
            </a:r>
            <a:r>
              <a:rPr lang="ru-RU" sz="3600" b="1" dirty="0"/>
              <a:t>для </a:t>
            </a:r>
            <a:r>
              <a:rPr lang="en-US" sz="3600" b="1" dirty="0" err="1"/>
              <a:t>instanceof</a:t>
            </a:r>
            <a:r>
              <a:rPr lang="en-US" sz="3600" b="1" dirty="0"/>
              <a:t> (Java 16, JEP 394)</a:t>
            </a:r>
            <a:endParaRPr lang="ru-RU" sz="3600" b="1" dirty="0"/>
          </a:p>
        </p:txBody>
      </p:sp>
      <p:pic>
        <p:nvPicPr>
          <p:cNvPr id="3" name="Рисунок 2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CC390B6-F359-3ACA-B024-D47F4AA6D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557" y="1482295"/>
            <a:ext cx="7842885" cy="482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1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267B4C0-5328-2952-E19D-1A2D57F7855B}"/>
              </a:ext>
            </a:extLst>
          </p:cNvPr>
          <p:cNvSpPr txBox="1"/>
          <p:nvPr/>
        </p:nvSpPr>
        <p:spPr>
          <a:xfrm>
            <a:off x="673772" y="551435"/>
            <a:ext cx="10878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/>
              <a:t>Sealed Classes (Java 17, JEP 409)</a:t>
            </a:r>
            <a:endParaRPr lang="ru-RU" sz="3600" b="1" dirty="0"/>
          </a:p>
        </p:txBody>
      </p:sp>
      <p:pic>
        <p:nvPicPr>
          <p:cNvPr id="3" name="Рисунок 2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54E6517-0B1F-B2AE-EFAD-53644A1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990" y="1555042"/>
            <a:ext cx="7596019" cy="498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03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267B4C0-5328-2952-E19D-1A2D57F7855B}"/>
              </a:ext>
            </a:extLst>
          </p:cNvPr>
          <p:cNvSpPr txBox="1"/>
          <p:nvPr/>
        </p:nvSpPr>
        <p:spPr>
          <a:xfrm>
            <a:off x="673772" y="551435"/>
            <a:ext cx="10878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/>
              <a:t>Pattern Matching for switch (Java 21</a:t>
            </a:r>
            <a:r>
              <a:rPr lang="ru-RU" sz="3600" b="1" dirty="0"/>
              <a:t>, </a:t>
            </a:r>
            <a:r>
              <a:rPr lang="en-US" sz="3600" b="1" dirty="0"/>
              <a:t>JEP 441)</a:t>
            </a:r>
            <a:endParaRPr lang="ru-RU" sz="3600" b="1" dirty="0"/>
          </a:p>
        </p:txBody>
      </p:sp>
      <p:pic>
        <p:nvPicPr>
          <p:cNvPr id="4" name="Рисунок 3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749518A-4278-EC85-A9CF-D9758F531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231" y="1197766"/>
            <a:ext cx="8671230" cy="557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1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визитная карточк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EDDF367-0E51-D579-63CF-E3BE1B63C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65" y="2529841"/>
            <a:ext cx="4730810" cy="265743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5396C7F6-1EEA-FDC2-F057-CA1FC2AA1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507" y="687759"/>
            <a:ext cx="5181600" cy="54824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7B4C0-5328-2952-E19D-1A2D57F7855B}"/>
              </a:ext>
            </a:extLst>
          </p:cNvPr>
          <p:cNvSpPr txBox="1"/>
          <p:nvPr/>
        </p:nvSpPr>
        <p:spPr>
          <a:xfrm>
            <a:off x="673772" y="5514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600" u="sng" dirty="0"/>
              <a:t>Проблема: </a:t>
            </a:r>
          </a:p>
          <a:p>
            <a:pPr marL="0" indent="0">
              <a:buNone/>
            </a:pPr>
            <a:r>
              <a:rPr lang="ru-RU" sz="3600" b="1" dirty="0"/>
              <a:t>Модель потоков 1:1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080998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визитная карточк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EDDF367-0E51-D579-63CF-E3BE1B63C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65" y="2529841"/>
            <a:ext cx="4730810" cy="265743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5396C7F6-1EEA-FDC2-F057-CA1FC2AA1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507" y="687759"/>
            <a:ext cx="5181600" cy="54824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471C7E-96FA-0A60-EFDB-5078859B309C}"/>
              </a:ext>
            </a:extLst>
          </p:cNvPr>
          <p:cNvSpPr txBox="1"/>
          <p:nvPr/>
        </p:nvSpPr>
        <p:spPr>
          <a:xfrm>
            <a:off x="5755107" y="551435"/>
            <a:ext cx="58238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600" u="sng" dirty="0"/>
              <a:t>Решение: </a:t>
            </a:r>
          </a:p>
          <a:p>
            <a:pPr marL="0" indent="0">
              <a:buNone/>
            </a:pPr>
            <a:r>
              <a:rPr lang="ru-RU" sz="3600" b="1" dirty="0"/>
              <a:t>Виртуальные потоки </a:t>
            </a:r>
            <a:endParaRPr lang="en-US" sz="3600" b="1" dirty="0"/>
          </a:p>
          <a:p>
            <a:pPr marL="0" indent="0">
              <a:buNone/>
            </a:pPr>
            <a:r>
              <a:rPr lang="ru-RU" sz="3600" b="1" dirty="0"/>
              <a:t>(</a:t>
            </a:r>
            <a:r>
              <a:rPr lang="en-US" sz="3600" b="1" dirty="0"/>
              <a:t>Java 21, JEP 444</a:t>
            </a:r>
            <a:r>
              <a:rPr lang="ru-RU" sz="3600" b="1" dirty="0"/>
              <a:t>)</a:t>
            </a:r>
            <a:endParaRPr lang="ru-RU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7B4C0-5328-2952-E19D-1A2D57F7855B}"/>
              </a:ext>
            </a:extLst>
          </p:cNvPr>
          <p:cNvSpPr txBox="1"/>
          <p:nvPr/>
        </p:nvSpPr>
        <p:spPr>
          <a:xfrm>
            <a:off x="673772" y="5514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600" u="sng" dirty="0"/>
              <a:t>Проблема: </a:t>
            </a:r>
          </a:p>
          <a:p>
            <a:pPr marL="0" indent="0">
              <a:buNone/>
            </a:pPr>
            <a:r>
              <a:rPr lang="ru-RU" sz="3600" b="1" dirty="0"/>
              <a:t>Модель потоков 1:1</a:t>
            </a:r>
            <a:endParaRPr lang="ru-RU" sz="3600" dirty="0"/>
          </a:p>
        </p:txBody>
      </p:sp>
      <p:pic>
        <p:nvPicPr>
          <p:cNvPr id="13" name="Рисунок 12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7D2FF73-767E-15FF-12C9-332D1414A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677" y="2529841"/>
            <a:ext cx="5823816" cy="272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81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267B4C0-5328-2952-E19D-1A2D57F7855B}"/>
              </a:ext>
            </a:extLst>
          </p:cNvPr>
          <p:cNvSpPr txBox="1"/>
          <p:nvPr/>
        </p:nvSpPr>
        <p:spPr>
          <a:xfrm>
            <a:off x="673772" y="551435"/>
            <a:ext cx="10878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600" b="1" dirty="0"/>
              <a:t>Виртуальные потоки</a:t>
            </a:r>
          </a:p>
        </p:txBody>
      </p:sp>
      <p:pic>
        <p:nvPicPr>
          <p:cNvPr id="3" name="Рисунок 2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C3B122B-11C9-FF81-9ADA-DD2642AC8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74" y="1388747"/>
            <a:ext cx="10684846" cy="491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31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267B4C0-5328-2952-E19D-1A2D57F7855B}"/>
              </a:ext>
            </a:extLst>
          </p:cNvPr>
          <p:cNvSpPr txBox="1"/>
          <p:nvPr/>
        </p:nvSpPr>
        <p:spPr>
          <a:xfrm>
            <a:off x="673772" y="551435"/>
            <a:ext cx="10878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600" b="1" dirty="0"/>
              <a:t>Прочие ключевые улучшения</a:t>
            </a:r>
          </a:p>
        </p:txBody>
      </p:sp>
      <p:pic>
        <p:nvPicPr>
          <p:cNvPr id="3" name="Рисунок 2" descr="Изображение выглядит как текст, снимок экрана, дисплей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C6E4764-47DC-3A24-64AA-BBF66A27F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914" y="1326103"/>
            <a:ext cx="9388172" cy="515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14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AA96F-BD58-38B2-3E1C-1B24EFFF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25 LTS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стабильность и прорыв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384721-A8AE-24E9-01EE-760AE17F527F}"/>
              </a:ext>
            </a:extLst>
          </p:cNvPr>
          <p:cNvSpPr txBox="1"/>
          <p:nvPr/>
        </p:nvSpPr>
        <p:spPr>
          <a:xfrm>
            <a:off x="838200" y="1556667"/>
            <a:ext cx="105156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u="sng" dirty="0"/>
              <a:t>статус:</a:t>
            </a:r>
            <a:r>
              <a:rPr lang="ru-RU" sz="2600" b="1" dirty="0"/>
              <a:t> </a:t>
            </a:r>
            <a:r>
              <a:rPr lang="en-US" sz="2600" dirty="0"/>
              <a:t>LTS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Premier Support (</a:t>
            </a:r>
            <a:r>
              <a:rPr lang="ru-RU" sz="2600" dirty="0"/>
              <a:t>основная поддержка</a:t>
            </a:r>
            <a:r>
              <a:rPr lang="en-US" sz="2600" dirty="0"/>
              <a:t>)</a:t>
            </a:r>
            <a:r>
              <a:rPr lang="ru-RU" sz="2600" dirty="0"/>
              <a:t>: до сентября 2030 года </a:t>
            </a: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/>
              <a:t>Extended Support (</a:t>
            </a:r>
            <a:r>
              <a:rPr lang="ru-RU" sz="2600" dirty="0"/>
              <a:t>расширенная поддержка</a:t>
            </a:r>
            <a:r>
              <a:rPr lang="en-US" sz="2600" dirty="0"/>
              <a:t>)</a:t>
            </a:r>
            <a:r>
              <a:rPr lang="ru-RU" sz="2600" dirty="0"/>
              <a:t>: до сентября </a:t>
            </a:r>
            <a:r>
              <a:rPr lang="en-US" sz="2600" dirty="0"/>
              <a:t>                </a:t>
            </a:r>
            <a:r>
              <a:rPr lang="ru-RU" sz="2600" dirty="0"/>
              <a:t>2033 года</a:t>
            </a:r>
          </a:p>
          <a:p>
            <a:r>
              <a:rPr lang="en-US" sz="2600" b="1" u="sng" dirty="0"/>
              <a:t>JEP:</a:t>
            </a:r>
            <a:r>
              <a:rPr lang="en-US" sz="2600" b="1" dirty="0"/>
              <a:t> </a:t>
            </a:r>
          </a:p>
          <a:p>
            <a:r>
              <a:rPr lang="en-US" sz="2600" dirty="0"/>
              <a:t>JEP 480</a:t>
            </a:r>
            <a:r>
              <a:rPr lang="ru-RU" sz="2600" dirty="0"/>
              <a:t> (</a:t>
            </a:r>
            <a:r>
              <a:rPr lang="en-US" sz="2600" dirty="0"/>
              <a:t>preview</a:t>
            </a:r>
            <a:r>
              <a:rPr lang="ru-RU" sz="2600" dirty="0"/>
              <a:t>)</a:t>
            </a:r>
            <a:r>
              <a:rPr lang="en-US" sz="2600" dirty="0"/>
              <a:t> – Generic Types for Primitive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/>
              <a:t>     </a:t>
            </a:r>
            <a:r>
              <a:rPr lang="ru-RU" sz="2600" dirty="0"/>
              <a:t>Будущее: </a:t>
            </a:r>
            <a:r>
              <a:rPr lang="en-US" sz="2600" dirty="0" err="1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ArrayList</a:t>
            </a:r>
            <a:r>
              <a:rPr lang="en-US" sz="26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&lt;int&gt;</a:t>
            </a:r>
            <a:r>
              <a:rPr lang="en-US" sz="2600" dirty="0">
                <a:latin typeface="Yu Gothic" panose="020B0400000000000000" pitchFamily="34" charset="-128"/>
                <a:ea typeface="Yu Gothic" panose="020B0400000000000000" pitchFamily="34" charset="-128"/>
                <a:cs typeface="Courier New" panose="02070309020205020404" pitchFamily="49" charset="0"/>
              </a:rPr>
              <a:t> </a:t>
            </a:r>
            <a:r>
              <a:rPr lang="ru-RU" sz="2600" dirty="0"/>
              <a:t>вместо </a:t>
            </a:r>
            <a:r>
              <a:rPr lang="en-US" sz="2600" dirty="0" err="1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ArrayList</a:t>
            </a:r>
            <a:r>
              <a:rPr lang="en-US" sz="26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&lt;Integer&gt;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600" dirty="0">
                <a:latin typeface="+mj-lt"/>
                <a:ea typeface="Yu Gothic" panose="020B0400000000000000" pitchFamily="34" charset="-128"/>
              </a:rPr>
              <a:t>Цель: устранить накладные расходы на упаковку</a:t>
            </a:r>
            <a:r>
              <a:rPr lang="en-US" sz="2600" dirty="0">
                <a:latin typeface="+mj-lt"/>
                <a:ea typeface="Yu Gothic" panose="020B0400000000000000" pitchFamily="34" charset="-128"/>
              </a:rPr>
              <a:t>/</a:t>
            </a:r>
            <a:r>
              <a:rPr lang="ru-RU" sz="2600" dirty="0">
                <a:latin typeface="+mj-lt"/>
                <a:ea typeface="Yu Gothic" panose="020B0400000000000000" pitchFamily="34" charset="-128"/>
              </a:rPr>
              <a:t>распаковку</a:t>
            </a:r>
          </a:p>
          <a:p>
            <a:r>
              <a:rPr lang="ru-RU" sz="2600" b="1" u="sng" dirty="0">
                <a:latin typeface="+mj-lt"/>
                <a:ea typeface="Yu Gothic" panose="020B0400000000000000" pitchFamily="34" charset="-128"/>
              </a:rPr>
              <a:t>обновление безопасности и </a:t>
            </a:r>
            <a:r>
              <a:rPr lang="en-US" sz="2600" b="1" u="sng" dirty="0">
                <a:latin typeface="+mj-lt"/>
                <a:ea typeface="Yu Gothic" panose="020B0400000000000000" pitchFamily="34" charset="-128"/>
              </a:rPr>
              <a:t>JVM</a:t>
            </a:r>
            <a:endParaRPr lang="ru-RU" sz="2600" b="1" u="sng" dirty="0">
              <a:latin typeface="+mj-lt"/>
              <a:ea typeface="Yu Gothic" panose="020B0400000000000000" pitchFamily="34" charset="-128"/>
            </a:endParaRPr>
          </a:p>
          <a:p>
            <a:r>
              <a:rPr lang="ru-RU" sz="2600" b="1" u="sng" dirty="0">
                <a:latin typeface="+mj-lt"/>
                <a:ea typeface="Yu Gothic" panose="020B0400000000000000" pitchFamily="34" charset="-128"/>
              </a:rPr>
              <a:t>полировка существующих</a:t>
            </a:r>
            <a:r>
              <a:rPr lang="en-US" sz="2600" b="1" u="sng" dirty="0">
                <a:latin typeface="+mj-lt"/>
                <a:ea typeface="Yu Gothic" panose="020B0400000000000000" pitchFamily="34" charset="-128"/>
              </a:rPr>
              <a:t> JEP</a:t>
            </a:r>
            <a:r>
              <a:rPr lang="ru-RU" sz="2600" b="1" u="sng" dirty="0">
                <a:latin typeface="+mj-lt"/>
                <a:ea typeface="Yu Gothic" panose="020B0400000000000000" pitchFamily="34" charset="-128"/>
              </a:rPr>
              <a:t>-</a:t>
            </a:r>
            <a:r>
              <a:rPr lang="ru-RU" sz="2600" b="1" u="sng" dirty="0" err="1">
                <a:latin typeface="+mj-lt"/>
                <a:ea typeface="Yu Gothic" panose="020B0400000000000000" pitchFamily="34" charset="-128"/>
              </a:rPr>
              <a:t>ов</a:t>
            </a:r>
            <a:endParaRPr lang="ru-RU" sz="2600" b="1" u="sng" dirty="0">
              <a:latin typeface="+mj-lt"/>
              <a:ea typeface="Yu Gothic" panose="020B0400000000000000" pitchFamily="34" charset="-128"/>
            </a:endParaRPr>
          </a:p>
          <a:p>
            <a:r>
              <a:rPr lang="ru-RU" sz="2600" b="1" u="sng" dirty="0">
                <a:latin typeface="+mj-lt"/>
                <a:ea typeface="Yu Gothic" panose="020B0400000000000000" pitchFamily="34" charset="-128"/>
              </a:rPr>
              <a:t>удаление устаревшего кода</a:t>
            </a:r>
          </a:p>
        </p:txBody>
      </p:sp>
    </p:spTree>
    <p:extLst>
      <p:ext uri="{BB962C8B-B14F-4D97-AF65-F5344CB8AC3E}">
        <p14:creationId xmlns:p14="http://schemas.microsoft.com/office/powerpoint/2010/main" val="1406960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8EDC2-24EE-424F-C6BD-7471BDEC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300" y="2766218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DF4EF-9235-C94A-810A-B553464BBD77}"/>
              </a:ext>
            </a:extLst>
          </p:cNvPr>
          <p:cNvSpPr txBox="1"/>
          <p:nvPr/>
        </p:nvSpPr>
        <p:spPr>
          <a:xfrm>
            <a:off x="1130300" y="4091781"/>
            <a:ext cx="88011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/>
              <a:t>Java – </a:t>
            </a:r>
            <a:r>
              <a:rPr lang="ru-RU" sz="2600" dirty="0"/>
              <a:t>живой язык, быстро адаптирующийся к современным требованиям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9589047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338</Words>
  <Application>Microsoft Office PowerPoint</Application>
  <PresentationFormat>Широкоэкранный</PresentationFormat>
  <Paragraphs>109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Yu Gothic</vt:lpstr>
      <vt:lpstr>Aptos</vt:lpstr>
      <vt:lpstr>Aptos Display</vt:lpstr>
      <vt:lpstr>Arial</vt:lpstr>
      <vt:lpstr>Calibri</vt:lpstr>
      <vt:lpstr>Courier New</vt:lpstr>
      <vt:lpstr>Wingdings</vt:lpstr>
      <vt:lpstr>Тема Office</vt:lpstr>
      <vt:lpstr>Нововведения  в последних версиях.</vt:lpstr>
      <vt:lpstr>Версии Java</vt:lpstr>
      <vt:lpstr>JEP (Java Enhancement Proposal)</vt:lpstr>
      <vt:lpstr>JEP (Java Enhancement Proposal)</vt:lpstr>
      <vt:lpstr>Поговорим про нововведения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Java 25 LTS: стабильность и прорыв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aidka</dc:creator>
  <cp:lastModifiedBy>aidka</cp:lastModifiedBy>
  <cp:revision>3</cp:revision>
  <dcterms:created xsi:type="dcterms:W3CDTF">2025-12-12T16:23:37Z</dcterms:created>
  <dcterms:modified xsi:type="dcterms:W3CDTF">2025-12-13T01:28:14Z</dcterms:modified>
</cp:coreProperties>
</file>