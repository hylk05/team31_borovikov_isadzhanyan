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69" r:id="rId2"/>
    <p:sldId id="268" r:id="rId3"/>
    <p:sldId id="257" r:id="rId4"/>
    <p:sldId id="258" r:id="rId5"/>
    <p:sldId id="259" r:id="rId6"/>
    <p:sldId id="260" r:id="rId7"/>
    <p:sldId id="270" r:id="rId8"/>
    <p:sldId id="261" r:id="rId9"/>
    <p:sldId id="262" r:id="rId10"/>
    <p:sldId id="263" r:id="rId11"/>
    <p:sldId id="264" r:id="rId12"/>
    <p:sldId id="271" r:id="rId13"/>
    <p:sldId id="267" r:id="rId14"/>
    <p:sldId id="266" r:id="rId15"/>
    <p:sldId id="27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38C555-1FC0-4AF4-B345-49E516BD37D7}" v="394" dt="2025-12-13T02:36:53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3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475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773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409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03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990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976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0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17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6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411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669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099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782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999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729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885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28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41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ru/design-patterns/visitor" TargetMode="External"/><Relationship Id="rId2" Type="http://schemas.openxmlformats.org/officeDocument/2006/relationships/hyperlink" Target="https://docs.oracle.com/javase/tutorial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aeldung.com/design-patterns-series" TargetMode="External"/><Relationship Id="rId4" Type="http://schemas.openxmlformats.org/officeDocument/2006/relationships/hyperlink" Target="https://refactoring.guru/ru/design-patterns/medi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064CB-B407-3180-BADF-D21BBBA13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2471300"/>
            <a:ext cx="9696961" cy="1400530"/>
          </a:xfrm>
        </p:spPr>
        <p:txBody>
          <a:bodyPr/>
          <a:lstStyle/>
          <a:p>
            <a:pPr algn="ctr"/>
            <a:r>
              <a:rPr lang="ru-RU" dirty="0"/>
              <a:t>Шаблоны проектирования </a:t>
            </a:r>
            <a:r>
              <a:rPr lang="ru-RU" dirty="0" err="1"/>
              <a:t>Visitor</a:t>
            </a:r>
            <a:r>
              <a:rPr lang="ru-RU" dirty="0"/>
              <a:t> и </a:t>
            </a:r>
            <a:r>
              <a:rPr lang="ru-RU" dirty="0" err="1"/>
              <a:t>Mediator</a:t>
            </a:r>
            <a:r>
              <a:rPr lang="ru-RU" dirty="0"/>
              <a:t> в Java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0D188D-D66D-10C0-1A6D-2DB20E503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727275"/>
            <a:ext cx="8946541" cy="152112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Боровиков Артём</a:t>
            </a:r>
            <a:br>
              <a:rPr lang="ru-RU" dirty="0"/>
            </a:br>
            <a:r>
              <a:rPr lang="ru-RU" dirty="0" err="1"/>
              <a:t>Исаджанян</a:t>
            </a:r>
            <a:r>
              <a:rPr lang="ru-RU" dirty="0"/>
              <a:t> Тигран</a:t>
            </a:r>
            <a:br>
              <a:rPr lang="ru-RU" dirty="0"/>
            </a:br>
            <a:r>
              <a:rPr lang="ru-RU" dirty="0"/>
              <a:t>группа 5030102</a:t>
            </a:r>
            <a:r>
              <a:rPr lang="en-US" dirty="0"/>
              <a:t>/30101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08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91ED-F5F2-E795-7EA4-31646D83D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4D8C7-70CE-E922-8C37-07B78B444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>
                <a:ea typeface="+mj-lt"/>
                <a:cs typeface="+mj-lt"/>
              </a:rPr>
              <a:t>Паттерны </a:t>
            </a:r>
            <a:r>
              <a:rPr lang="ru-RU" sz="4000" dirty="0" err="1">
                <a:ea typeface="+mj-lt"/>
                <a:cs typeface="+mj-lt"/>
              </a:rPr>
              <a:t>Visitor</a:t>
            </a:r>
            <a:r>
              <a:rPr lang="ru-RU" sz="4000" dirty="0">
                <a:ea typeface="+mj-lt"/>
                <a:cs typeface="+mj-lt"/>
              </a:rPr>
              <a:t> и </a:t>
            </a:r>
            <a:r>
              <a:rPr lang="ru-RU" sz="4000" dirty="0" err="1">
                <a:ea typeface="+mj-lt"/>
                <a:cs typeface="+mj-lt"/>
              </a:rPr>
              <a:t>Mediator</a:t>
            </a:r>
            <a:r>
              <a:rPr lang="ru-RU" sz="4000" dirty="0">
                <a:ea typeface="+mj-lt"/>
                <a:cs typeface="+mj-lt"/>
              </a:rPr>
              <a:t> в языке Java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AB0F38-140E-BEE8-31FF-8A2042E6F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016" y="2052918"/>
            <a:ext cx="9195838" cy="419548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ru-RU" sz="3200" dirty="0">
                <a:ea typeface="+mn-lt"/>
                <a:cs typeface="+mn-lt"/>
              </a:rPr>
              <a:t>Паттерны проектирования являются важным инструментом объектно-ориентированного программирования.</a:t>
            </a:r>
            <a:br>
              <a:rPr lang="ru-RU" sz="3200" dirty="0">
                <a:ea typeface="+mn-lt"/>
                <a:cs typeface="+mn-lt"/>
              </a:rPr>
            </a:br>
            <a:br>
              <a:rPr lang="ru-RU" sz="3200" dirty="0">
                <a:ea typeface="+mn-lt"/>
                <a:cs typeface="+mn-lt"/>
              </a:rPr>
            </a:br>
            <a:r>
              <a:rPr lang="ru-RU" sz="3200" dirty="0">
                <a:ea typeface="+mn-lt"/>
                <a:cs typeface="+mn-lt"/>
              </a:rPr>
              <a:t>В данной работе рассматриваются поведенческие паттерны </a:t>
            </a:r>
            <a:r>
              <a:rPr lang="ru-RU" sz="3200" dirty="0" err="1">
                <a:ea typeface="+mn-lt"/>
                <a:cs typeface="+mn-lt"/>
              </a:rPr>
              <a:t>visitor</a:t>
            </a:r>
            <a:r>
              <a:rPr lang="ru-RU" sz="3200" dirty="0">
                <a:ea typeface="+mn-lt"/>
                <a:cs typeface="+mn-lt"/>
              </a:rPr>
              <a:t> и </a:t>
            </a:r>
            <a:r>
              <a:rPr lang="ru-RU" sz="3200" dirty="0" err="1">
                <a:ea typeface="+mn-lt"/>
                <a:cs typeface="+mn-lt"/>
              </a:rPr>
              <a:t>mediator</a:t>
            </a:r>
            <a:r>
              <a:rPr lang="ru-RU" sz="3200" dirty="0">
                <a:ea typeface="+mn-lt"/>
                <a:cs typeface="+mn-lt"/>
              </a:rPr>
              <a:t>, их назначение, основные принципы и особенности применения в языке программирования </a:t>
            </a:r>
            <a:r>
              <a:rPr lang="ru-RU" sz="3200" dirty="0" err="1">
                <a:ea typeface="+mn-lt"/>
                <a:cs typeface="+mn-lt"/>
              </a:rPr>
              <a:t>java</a:t>
            </a:r>
            <a:r>
              <a:rPr lang="ru-RU" sz="3200" dirty="0">
                <a:ea typeface="+mn-lt"/>
                <a:cs typeface="+mn-lt"/>
              </a:rPr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1780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71501A-5744-F157-6AA9-2DF454D8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Понятие паттернов проектирования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EAE711-A9EE-5CDC-AD39-1A1547A7F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ru-RU" dirty="0">
                <a:ea typeface="+mn-lt"/>
                <a:cs typeface="+mn-lt"/>
              </a:rPr>
              <a:t>Паттерны проектирования представляют собой обобщённые решения типовых задач проектирования программного обеспечения.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Они описывают структуру взаимодействия классов и объектов, способствуя созданию гибкой, расширяемой и поддерживаемой архитектуры программных систем.</a:t>
            </a:r>
          </a:p>
          <a:p>
            <a:pPr>
              <a:buClr>
                <a:srgbClr val="8AD0D6"/>
              </a:buClr>
            </a:pPr>
            <a:r>
              <a:rPr lang="ru-RU" dirty="0">
                <a:ea typeface="+mj-lt"/>
                <a:cs typeface="+mj-lt"/>
              </a:rPr>
              <a:t>Паттерны проектирования представляют собой обобщённые решения типовых задач проектирования программного обеспечения.</a:t>
            </a:r>
            <a:endParaRPr lang="ru-RU" dirty="0"/>
          </a:p>
          <a:p>
            <a:pPr>
              <a:buClr>
                <a:srgbClr val="8AD0D6"/>
              </a:buClr>
            </a:pPr>
            <a:r>
              <a:rPr lang="ru-RU" dirty="0">
                <a:ea typeface="+mj-lt"/>
                <a:cs typeface="+mj-lt"/>
              </a:rPr>
              <a:t>Они описывают эффективные способы организации взаимодействия между классами и объектами.</a:t>
            </a:r>
            <a:endParaRPr lang="ru-RU" dirty="0"/>
          </a:p>
          <a:p>
            <a:pPr>
              <a:buClr>
                <a:srgbClr val="8AD0D6"/>
              </a:buClr>
            </a:pPr>
            <a:r>
              <a:rPr lang="ru-RU" dirty="0">
                <a:ea typeface="+mj-lt"/>
                <a:cs typeface="+mj-lt"/>
              </a:rPr>
              <a:t>Паттерны не являются готовым кодом, а служат архитектурными шаблонами.</a:t>
            </a:r>
            <a:endParaRPr lang="ru-RU" dirty="0"/>
          </a:p>
          <a:p>
            <a:pPr>
              <a:buClr>
                <a:srgbClr val="8AD0D6"/>
              </a:buClr>
            </a:pPr>
            <a:r>
              <a:rPr lang="ru-RU" dirty="0">
                <a:ea typeface="+mj-lt"/>
                <a:cs typeface="+mj-lt"/>
              </a:rPr>
              <a:t>Их применение снижает сложность системы и упрощает её дальнейшее развитие.</a:t>
            </a:r>
            <a:endParaRPr lang="ru-RU" dirty="0"/>
          </a:p>
          <a:p>
            <a:pPr>
              <a:buClr>
                <a:srgbClr val="8AD0D6"/>
              </a:buClr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6863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858E7-CA51-7681-15AB-D07AECE0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Паттерн </a:t>
            </a:r>
            <a:r>
              <a:rPr lang="ru-RU" dirty="0" err="1">
                <a:ea typeface="+mj-lt"/>
                <a:cs typeface="+mj-lt"/>
              </a:rPr>
              <a:t>Visitor</a:t>
            </a:r>
            <a:r>
              <a:rPr lang="ru-RU" dirty="0">
                <a:ea typeface="+mj-lt"/>
                <a:cs typeface="+mj-lt"/>
              </a:rPr>
              <a:t> (</a:t>
            </a:r>
            <a:r>
              <a:rPr lang="ru-RU" dirty="0" err="1">
                <a:ea typeface="+mj-lt"/>
                <a:cs typeface="+mj-lt"/>
              </a:rPr>
              <a:t>Визитор</a:t>
            </a:r>
            <a:r>
              <a:rPr lang="ru-RU" dirty="0">
                <a:ea typeface="+mj-lt"/>
                <a:cs typeface="+mj-lt"/>
              </a:rPr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768865-BEA9-5BF4-3420-AD4EA6D04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dirty="0" err="1">
                <a:ea typeface="+mj-lt"/>
                <a:cs typeface="+mj-lt"/>
              </a:rPr>
              <a:t>Visitor</a:t>
            </a:r>
            <a:r>
              <a:rPr lang="ru-RU" dirty="0">
                <a:ea typeface="+mj-lt"/>
                <a:cs typeface="+mj-lt"/>
              </a:rPr>
              <a:t> относится к группе поведенческих паттернов проектирования.</a:t>
            </a:r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Основное назначение паттерна — добавление новых операций к объектам без изменения их классов.</a:t>
            </a:r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Логика обработки объектов выносится за пределы их реализации.</a:t>
            </a:r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Это позволяет сохранить целостность существующей структуры классов.</a:t>
            </a:r>
          </a:p>
        </p:txBody>
      </p:sp>
    </p:spTree>
    <p:extLst>
      <p:ext uri="{BB962C8B-B14F-4D97-AF65-F5344CB8AC3E}">
        <p14:creationId xmlns:p14="http://schemas.microsoft.com/office/powerpoint/2010/main" val="1108164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F11C4-6D93-4CC3-B62F-A3F9C8EE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Принцип работы паттерна </a:t>
            </a:r>
            <a:r>
              <a:rPr lang="ru-RU" dirty="0" err="1">
                <a:ea typeface="+mj-lt"/>
                <a:cs typeface="+mj-lt"/>
              </a:rPr>
              <a:t>Visitor</a:t>
            </a:r>
            <a:endParaRPr lang="ru-RU" dirty="0" err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CB131B-FF0A-CAA6-0806-0F7040343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dirty="0">
                <a:ea typeface="+mj-lt"/>
                <a:cs typeface="+mj-lt"/>
              </a:rPr>
              <a:t>Паттерн </a:t>
            </a:r>
            <a:r>
              <a:rPr lang="ru-RU" dirty="0" err="1">
                <a:ea typeface="+mj-lt"/>
                <a:cs typeface="+mj-lt"/>
              </a:rPr>
              <a:t>Visitor</a:t>
            </a:r>
            <a:r>
              <a:rPr lang="ru-RU" dirty="0">
                <a:ea typeface="+mj-lt"/>
                <a:cs typeface="+mj-lt"/>
              </a:rPr>
              <a:t> основан на разделении структуры данных и операций над ней.</a:t>
            </a:r>
            <a:endParaRPr lang="ru-RU" dirty="0"/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Существует иерархия элементов, формирующих структуру объектов.</a:t>
            </a:r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Для выполнения операций используется отдельный объект — </a:t>
            </a:r>
            <a:r>
              <a:rPr lang="ru-RU" dirty="0" err="1">
                <a:ea typeface="+mj-lt"/>
                <a:cs typeface="+mj-lt"/>
              </a:rPr>
              <a:t>визитор</a:t>
            </a:r>
            <a:r>
              <a:rPr lang="ru-RU" dirty="0">
                <a:ea typeface="+mj-lt"/>
                <a:cs typeface="+mj-lt"/>
              </a:rPr>
              <a:t>.</a:t>
            </a:r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Каждый элемент принимает </a:t>
            </a:r>
            <a:r>
              <a:rPr lang="ru-RU" dirty="0" err="1">
                <a:ea typeface="+mj-lt"/>
                <a:cs typeface="+mj-lt"/>
              </a:rPr>
              <a:t>визитора</a:t>
            </a:r>
            <a:r>
              <a:rPr lang="ru-RU" dirty="0">
                <a:ea typeface="+mj-lt"/>
                <a:cs typeface="+mj-lt"/>
              </a:rPr>
              <a:t> и передаёт ему управление.</a:t>
            </a:r>
          </a:p>
        </p:txBody>
      </p:sp>
    </p:spTree>
    <p:extLst>
      <p:ext uri="{BB962C8B-B14F-4D97-AF65-F5344CB8AC3E}">
        <p14:creationId xmlns:p14="http://schemas.microsoft.com/office/powerpoint/2010/main" val="127671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3574F-59C4-A6E7-52A8-31D81FE2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Реализация </a:t>
            </a:r>
            <a:r>
              <a:rPr lang="ru-RU" dirty="0" err="1">
                <a:ea typeface="+mj-lt"/>
                <a:cs typeface="+mj-lt"/>
              </a:rPr>
              <a:t>Visitor</a:t>
            </a:r>
            <a:r>
              <a:rPr lang="ru-RU" dirty="0">
                <a:ea typeface="+mj-lt"/>
                <a:cs typeface="+mj-lt"/>
              </a:rPr>
              <a:t> в Java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7A7E4C-6F24-F1A0-9689-F1ACA93BD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dirty="0">
                <a:ea typeface="+mj-lt"/>
                <a:cs typeface="+mj-lt"/>
              </a:rPr>
              <a:t>В Java паттерн </a:t>
            </a:r>
            <a:r>
              <a:rPr lang="ru-RU" dirty="0" err="1">
                <a:ea typeface="+mj-lt"/>
                <a:cs typeface="+mj-lt"/>
              </a:rPr>
              <a:t>Visitor</a:t>
            </a:r>
            <a:r>
              <a:rPr lang="ru-RU" dirty="0">
                <a:ea typeface="+mj-lt"/>
                <a:cs typeface="+mj-lt"/>
              </a:rPr>
              <a:t> реализуется с использованием интерфейса </a:t>
            </a:r>
            <a:r>
              <a:rPr lang="ru-RU" dirty="0" err="1">
                <a:ea typeface="+mj-lt"/>
                <a:cs typeface="+mj-lt"/>
              </a:rPr>
              <a:t>Visitor</a:t>
            </a:r>
            <a:r>
              <a:rPr lang="ru-RU" dirty="0">
                <a:ea typeface="+mj-lt"/>
                <a:cs typeface="+mj-lt"/>
              </a:rPr>
              <a:t>.</a:t>
            </a:r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Интерфейс содержит методы </a:t>
            </a:r>
            <a:r>
              <a:rPr lang="ru-RU" dirty="0" err="1">
                <a:ea typeface="+mj-lt"/>
                <a:cs typeface="+mj-lt"/>
              </a:rPr>
              <a:t>visit</a:t>
            </a:r>
            <a:r>
              <a:rPr lang="ru-RU" dirty="0">
                <a:ea typeface="+mj-lt"/>
                <a:cs typeface="+mj-lt"/>
              </a:rPr>
              <a:t>() для каждого типа элемента.</a:t>
            </a:r>
            <a:endParaRPr lang="ru-RU"/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Классы элементов реализуют метод </a:t>
            </a:r>
            <a:r>
              <a:rPr lang="ru-RU" dirty="0" err="1">
                <a:ea typeface="+mj-lt"/>
                <a:cs typeface="+mj-lt"/>
              </a:rPr>
              <a:t>accept</a:t>
            </a:r>
            <a:r>
              <a:rPr lang="ru-RU" dirty="0">
                <a:ea typeface="+mj-lt"/>
                <a:cs typeface="+mj-lt"/>
              </a:rPr>
              <a:t>(), принимающий </a:t>
            </a:r>
            <a:r>
              <a:rPr lang="ru-RU" dirty="0" err="1">
                <a:ea typeface="+mj-lt"/>
                <a:cs typeface="+mj-lt"/>
              </a:rPr>
              <a:t>визитора</a:t>
            </a:r>
            <a:r>
              <a:rPr lang="ru-RU" dirty="0">
                <a:ea typeface="+mj-lt"/>
                <a:cs typeface="+mj-lt"/>
              </a:rPr>
              <a:t>.</a:t>
            </a:r>
            <a:endParaRPr lang="ru-RU"/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Данная схема позволяет реализовать механизм двойной диспетчеризации.</a:t>
            </a:r>
          </a:p>
        </p:txBody>
      </p:sp>
    </p:spTree>
    <p:extLst>
      <p:ext uri="{BB962C8B-B14F-4D97-AF65-F5344CB8AC3E}">
        <p14:creationId xmlns:p14="http://schemas.microsoft.com/office/powerpoint/2010/main" val="2859157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C36B9F-2FB5-B4B8-F2DF-9F5E77CA1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338FAE9-4A3E-41D2-E850-2741A9434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68" y="342469"/>
            <a:ext cx="5220429" cy="617306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F666BFE-4EBB-15B2-8900-5E06CE50E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661" y="637784"/>
            <a:ext cx="6544588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709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D054FE-B363-74C2-2A8B-40C37215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Области применения </a:t>
            </a:r>
            <a:r>
              <a:rPr lang="ru-RU" dirty="0" err="1">
                <a:ea typeface="+mj-lt"/>
                <a:cs typeface="+mj-lt"/>
              </a:rPr>
              <a:t>Visitor</a:t>
            </a:r>
            <a:endParaRPr lang="ru-RU" dirty="0" err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D94918-B8B3-A5DA-CD00-F20FC5E96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dirty="0">
                <a:ea typeface="+mj-lt"/>
                <a:cs typeface="+mj-lt"/>
              </a:rPr>
              <a:t>Паттерн </a:t>
            </a:r>
            <a:r>
              <a:rPr lang="ru-RU" dirty="0" err="1">
                <a:ea typeface="+mj-lt"/>
                <a:cs typeface="+mj-lt"/>
              </a:rPr>
              <a:t>Visitor</a:t>
            </a:r>
            <a:r>
              <a:rPr lang="ru-RU" dirty="0">
                <a:ea typeface="+mj-lt"/>
                <a:cs typeface="+mj-lt"/>
              </a:rPr>
              <a:t> эффективен при стабильной структуре объектов.</a:t>
            </a:r>
            <a:endParaRPr lang="ru-RU" dirty="0"/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Он широко применяется в компиляторах и интерпретаторах.</a:t>
            </a:r>
            <a:endParaRPr lang="ru-RU" dirty="0"/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Используется при работе с абстрактными синтаксическими деревьями.</a:t>
            </a:r>
            <a:endParaRPr lang="ru-RU" dirty="0"/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Подходит для задач анализа, обхода и преобразования сложных структур данных.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008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FDA25-7449-D364-E35B-1BE437C9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Паттерн </a:t>
            </a:r>
            <a:r>
              <a:rPr lang="ru-RU" dirty="0" err="1">
                <a:ea typeface="+mj-lt"/>
                <a:cs typeface="+mj-lt"/>
              </a:rPr>
              <a:t>Mediator</a:t>
            </a:r>
            <a:r>
              <a:rPr lang="ru-RU" dirty="0">
                <a:ea typeface="+mj-lt"/>
                <a:cs typeface="+mj-lt"/>
              </a:rPr>
              <a:t> (Посредник)</a:t>
            </a:r>
            <a:endParaRPr lang="ru-RU" dirty="0"/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DCDB6B-FCEE-D6E1-23B4-159BC57AA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dirty="0" err="1">
                <a:ea typeface="+mj-lt"/>
                <a:cs typeface="+mj-lt"/>
              </a:rPr>
              <a:t>Mediator</a:t>
            </a:r>
            <a:r>
              <a:rPr lang="ru-RU" dirty="0">
                <a:ea typeface="+mj-lt"/>
                <a:cs typeface="+mj-lt"/>
              </a:rPr>
              <a:t> относится к поведенческим паттернам проектирования.</a:t>
            </a:r>
            <a:endParaRPr lang="ru-RU" dirty="0"/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Его цель — уменьшение связанности между взаимодействующими объектами.</a:t>
            </a:r>
            <a:endParaRPr lang="ru-RU" dirty="0"/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Прямое взаимодействие компонентов заменяется взаимодействием через посредника.</a:t>
            </a:r>
            <a:endParaRPr lang="ru-RU" dirty="0"/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Это упрощает архитектуру системы и управление связями.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8398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30A95-3C5A-BD88-F0E1-885ED0D2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Принцип работы паттерна </a:t>
            </a:r>
            <a:r>
              <a:rPr lang="ru-RU" dirty="0" err="1">
                <a:ea typeface="+mj-lt"/>
                <a:cs typeface="+mj-lt"/>
              </a:rPr>
              <a:t>Mediator</a:t>
            </a:r>
            <a:endParaRPr lang="ru-RU" dirty="0" err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ECD32A-77C5-2E25-6521-EE11FB88C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dirty="0">
                <a:ea typeface="+mj-lt"/>
                <a:cs typeface="+mj-lt"/>
              </a:rPr>
              <a:t>Компоненты системы не взаимодействуют напрямую друг с другом.</a:t>
            </a:r>
            <a:endParaRPr lang="ru-RU" dirty="0"/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Все сообщения и события передаются через объект-посредник.</a:t>
            </a:r>
            <a:endParaRPr lang="ru-RU" dirty="0"/>
          </a:p>
          <a:p>
            <a:pPr>
              <a:buNone/>
            </a:pPr>
            <a:r>
              <a:rPr lang="ru-RU" dirty="0">
                <a:ea typeface="+mj-lt"/>
                <a:cs typeface="+mj-lt"/>
              </a:rPr>
              <a:t>Посредник инкапсулирует логику взаимодействия компонентов.</a:t>
            </a:r>
            <a:endParaRPr lang="ru-RU" dirty="0"/>
          </a:p>
          <a:p>
            <a:pPr marL="0" indent="0">
              <a:buNone/>
            </a:pPr>
            <a:r>
              <a:rPr lang="ru-RU" dirty="0">
                <a:ea typeface="+mj-lt"/>
                <a:cs typeface="+mj-lt"/>
              </a:rPr>
              <a:t>Изменение поведения системы возможно без модификации самих компонентов.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4099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9C68A4-6E11-D244-7DE4-12F31798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Реализация </a:t>
            </a:r>
            <a:r>
              <a:rPr lang="ru-RU" dirty="0" err="1">
                <a:ea typeface="+mj-lt"/>
                <a:cs typeface="+mj-lt"/>
              </a:rPr>
              <a:t>Mediator</a:t>
            </a:r>
            <a:r>
              <a:rPr lang="ru-RU" dirty="0">
                <a:ea typeface="+mj-lt"/>
                <a:cs typeface="+mj-lt"/>
              </a:rPr>
              <a:t> в Java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A5EAAD-B1B6-9565-EA94-73387DBDB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В Java паттерн </a:t>
            </a:r>
            <a:r>
              <a:rPr lang="ru-RU" dirty="0" err="1">
                <a:ea typeface="+mn-lt"/>
                <a:cs typeface="+mn-lt"/>
              </a:rPr>
              <a:t>Mediator</a:t>
            </a:r>
            <a:r>
              <a:rPr lang="ru-RU" dirty="0">
                <a:ea typeface="+mn-lt"/>
                <a:cs typeface="+mn-lt"/>
              </a:rPr>
              <a:t> реализуется с использованием интерфейса посредника.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Компоненты системы хранят ссылку только на посредника и уведомляют его о произошедших событиях.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Паттерн широко используется при разработке графических пользовательских интерфейсов.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9287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F4D5D-5C96-C467-1B4E-15CB33F6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12BAA6-DE79-BEA6-CDD8-EB11F349A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226980-2D20-FC05-787C-C2194652B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82" y="226359"/>
            <a:ext cx="5639871" cy="64052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CF38E5-8B66-AC0A-7742-171B14565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240" y="113179"/>
            <a:ext cx="6073278" cy="663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74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3A051-8383-D3C1-93E7-115F6352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200865" cy="1444072"/>
          </a:xfrm>
        </p:spPr>
        <p:txBody>
          <a:bodyPr/>
          <a:lstStyle/>
          <a:p>
            <a:r>
              <a:rPr lang="ru-RU" dirty="0"/>
              <a:t>Сравнительный анализ </a:t>
            </a:r>
            <a:r>
              <a:rPr lang="ru-RU" dirty="0" err="1"/>
              <a:t>Visitor</a:t>
            </a:r>
            <a:r>
              <a:rPr lang="ru-RU" dirty="0"/>
              <a:t> и </a:t>
            </a:r>
            <a:r>
              <a:rPr lang="ru-RU" dirty="0" err="1"/>
              <a:t>Mediator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1EBD33-6F0E-8E8E-1170-2C1986C4E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visitor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08B84C-04AF-9002-DC78-336A6C2372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Используется для добавления новых операций к объектам</a:t>
            </a:r>
          </a:p>
          <a:p>
            <a:pPr>
              <a:buClr>
                <a:srgbClr val="8AD0D6"/>
              </a:buClr>
            </a:pPr>
            <a:endParaRPr lang="ru-RU" dirty="0"/>
          </a:p>
          <a:p>
            <a:pPr>
              <a:buClr>
                <a:srgbClr val="8AD0D6"/>
              </a:buClr>
            </a:pPr>
            <a:r>
              <a:rPr lang="ru-RU" dirty="0"/>
              <a:t>Не влияет напрямую на связность</a:t>
            </a:r>
          </a:p>
          <a:p>
            <a:pPr>
              <a:buClr>
                <a:srgbClr val="8AD0D6"/>
              </a:buClr>
            </a:pPr>
            <a:endParaRPr lang="ru-RU" dirty="0"/>
          </a:p>
          <a:p>
            <a:pPr>
              <a:buClr>
                <a:srgbClr val="8AD0D6"/>
              </a:buClr>
            </a:pPr>
            <a:r>
              <a:rPr lang="ru-RU" dirty="0" err="1"/>
              <a:t>Применеие</a:t>
            </a:r>
            <a:r>
              <a:rPr lang="ru-RU" dirty="0"/>
              <a:t>: компиляторы, обход деревьев</a:t>
            </a:r>
          </a:p>
          <a:p>
            <a:pPr>
              <a:buClr>
                <a:srgbClr val="8AD0D6"/>
              </a:buClr>
            </a:pPr>
            <a:endParaRPr lang="ru-RU" dirty="0"/>
          </a:p>
          <a:p>
            <a:pPr>
              <a:buClr>
                <a:srgbClr val="8AD0D6"/>
              </a:buClr>
            </a:pPr>
            <a:r>
              <a:rPr lang="ru-RU" dirty="0"/>
              <a:t>Лёгкое расширение логики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9ECABD-4F87-7899-9EF5-3C51F6BE7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err="1"/>
              <a:t>mediator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15DDC02-14EB-F9A3-04B1-08DBF9E7613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Используется для управления взаимодействия между объектами</a:t>
            </a:r>
          </a:p>
          <a:p>
            <a:pPr>
              <a:buClr>
                <a:srgbClr val="8AD0D6"/>
              </a:buClr>
            </a:pPr>
            <a:r>
              <a:rPr lang="ru-RU" dirty="0"/>
              <a:t>Снижает связность</a:t>
            </a:r>
          </a:p>
          <a:p>
            <a:pPr>
              <a:buClr>
                <a:srgbClr val="8AD0D6"/>
              </a:buClr>
            </a:pPr>
            <a:endParaRPr lang="ru-RU" dirty="0"/>
          </a:p>
          <a:p>
            <a:pPr>
              <a:buClr>
                <a:srgbClr val="8AD0D6"/>
              </a:buClr>
            </a:pPr>
            <a:r>
              <a:rPr lang="ru-RU" dirty="0"/>
              <a:t>Применение: GUI, системы событий</a:t>
            </a:r>
          </a:p>
          <a:p>
            <a:pPr>
              <a:buClr>
                <a:srgbClr val="8AD0D6"/>
              </a:buClr>
            </a:pPr>
            <a:endParaRPr lang="ru-RU" dirty="0"/>
          </a:p>
          <a:p>
            <a:pPr>
              <a:buClr>
                <a:srgbClr val="8AD0D6"/>
              </a:buClr>
            </a:pPr>
            <a:r>
              <a:rPr lang="ru-RU" dirty="0"/>
              <a:t>Централизованное управление</a:t>
            </a:r>
          </a:p>
          <a:p>
            <a:pPr>
              <a:buClr>
                <a:srgbClr val="8AD0D6"/>
              </a:buClr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190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E37F3-33FA-FDDE-1980-A63A6B45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81B225-79EC-BA27-16D8-34FA89368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Паттерны проектирования являются важным элементом современной объектно-ориентированной разработки.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Использование </a:t>
            </a:r>
            <a:r>
              <a:rPr lang="ru-RU" dirty="0" err="1">
                <a:ea typeface="+mn-lt"/>
                <a:cs typeface="+mn-lt"/>
              </a:rPr>
              <a:t>Visitor</a:t>
            </a:r>
            <a:r>
              <a:rPr lang="ru-RU" dirty="0">
                <a:ea typeface="+mn-lt"/>
                <a:cs typeface="+mn-lt"/>
              </a:rPr>
              <a:t> позволяет расширять функциональность системы без изменения существующих классов.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Применение </a:t>
            </a:r>
            <a:r>
              <a:rPr lang="ru-RU" dirty="0" err="1">
                <a:ea typeface="+mn-lt"/>
                <a:cs typeface="+mn-lt"/>
              </a:rPr>
              <a:t>Mediator</a:t>
            </a:r>
            <a:r>
              <a:rPr lang="ru-RU" dirty="0">
                <a:ea typeface="+mn-lt"/>
                <a:cs typeface="+mn-lt"/>
              </a:rPr>
              <a:t> снижает связанность компонентов и упрощает сопровождение программного обеспечения.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3947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B917A-D6D1-35B2-CEAD-C726E96E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9A707D-6453-9401-B4F7-792791265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Gamma, E., Helm, R., Johnson, R., </a:t>
            </a:r>
            <a:r>
              <a:rPr lang="en-US" b="1" dirty="0" err="1"/>
              <a:t>Vlissides</a:t>
            </a:r>
            <a:r>
              <a:rPr lang="en-US" b="1" dirty="0"/>
              <a:t>, J.</a:t>
            </a:r>
            <a:r>
              <a:rPr lang="en-US" dirty="0"/>
              <a:t> </a:t>
            </a:r>
            <a:r>
              <a:rPr lang="en-US" i="1" dirty="0"/>
              <a:t>Design Patterns: Elements of Reusable Object-Oriented Software.</a:t>
            </a:r>
            <a:r>
              <a:rPr lang="en-US" dirty="0"/>
              <a:t> — Addison-Wesley, 1994. (</a:t>
            </a:r>
            <a:r>
              <a:rPr lang="ru-RU" dirty="0"/>
              <a:t>Классическая книга "Банды четырёх").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Фримен Э., Фримен Э.</a:t>
            </a:r>
            <a:r>
              <a:rPr lang="ru-RU" dirty="0"/>
              <a:t> </a:t>
            </a:r>
            <a:r>
              <a:rPr lang="ru-RU" i="1" dirty="0"/>
              <a:t>Паттерны проектирования.</a:t>
            </a:r>
            <a:r>
              <a:rPr lang="ru-RU" dirty="0"/>
              <a:t> — Питер, 2022.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Шлее М.</a:t>
            </a:r>
            <a:r>
              <a:rPr lang="ru-RU" dirty="0"/>
              <a:t> </a:t>
            </a:r>
            <a:r>
              <a:rPr lang="en-US" i="1" dirty="0" err="1"/>
              <a:t>Professionell</a:t>
            </a:r>
            <a:r>
              <a:rPr lang="en-US" i="1" dirty="0"/>
              <a:t> Java.</a:t>
            </a:r>
            <a:r>
              <a:rPr lang="en-US" dirty="0"/>
              <a:t> — </a:t>
            </a:r>
            <a:r>
              <a:rPr lang="en-US" dirty="0" err="1"/>
              <a:t>Rheinwerk</a:t>
            </a:r>
            <a:r>
              <a:rPr lang="en-US" dirty="0"/>
              <a:t> Computing, 2022.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Oracle. Java Documentation.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https://docs.oracle.com/javase/tutorial/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 err="1"/>
              <a:t>Refactoring.Guru</a:t>
            </a:r>
            <a:r>
              <a:rPr lang="en-US" b="1" dirty="0"/>
              <a:t>: Visitor.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https://refactoring.guru/ru/design-patterns/visitor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 err="1"/>
              <a:t>Refactoring.Guru</a:t>
            </a:r>
            <a:r>
              <a:rPr lang="en-US" b="1" dirty="0"/>
              <a:t>: Mediator.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https://refactoring.guru/ru/design-patterns/mediator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 err="1"/>
              <a:t>Baeldung</a:t>
            </a:r>
            <a:r>
              <a:rPr lang="en-US" b="1" dirty="0"/>
              <a:t>. Design Patterns in Java.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https://www.baeldung.com/design-patterns-series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9207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618</Words>
  <Application>Microsoft Office PowerPoint</Application>
  <PresentationFormat>Широкоэкранный</PresentationFormat>
  <Paragraphs>73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</vt:lpstr>
      <vt:lpstr>Шаблоны проектирования Visitor и Mediator в Java</vt:lpstr>
      <vt:lpstr>Паттерны Visitor и Mediator в языке Java</vt:lpstr>
      <vt:lpstr>Понятие паттернов проектирования</vt:lpstr>
      <vt:lpstr>Паттерн Visitor (Визитор)</vt:lpstr>
      <vt:lpstr>Принцип работы паттерна Visitor</vt:lpstr>
      <vt:lpstr>Реализация Visitor в Java</vt:lpstr>
      <vt:lpstr>Презентация PowerPoint</vt:lpstr>
      <vt:lpstr>Области применения Visitor</vt:lpstr>
      <vt:lpstr>Паттерн Mediator (Посредник) </vt:lpstr>
      <vt:lpstr>Принцип работы паттерна Mediator</vt:lpstr>
      <vt:lpstr>Реализация Mediator в Java</vt:lpstr>
      <vt:lpstr>Презентация PowerPoint</vt:lpstr>
      <vt:lpstr>Сравнительный анализ Visitor и Mediator</vt:lpstr>
      <vt:lpstr>Заключение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Artyom</dc:creator>
  <cp:lastModifiedBy>Артём боровиков</cp:lastModifiedBy>
  <cp:revision>132</cp:revision>
  <dcterms:created xsi:type="dcterms:W3CDTF">2025-12-13T02:07:56Z</dcterms:created>
  <dcterms:modified xsi:type="dcterms:W3CDTF">2025-12-13T10:21:47Z</dcterms:modified>
</cp:coreProperties>
</file>