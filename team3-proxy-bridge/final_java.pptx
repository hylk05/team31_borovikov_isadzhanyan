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7" r:id="rId9"/>
    <p:sldId id="278" r:id="rId10"/>
    <p:sldId id="282" r:id="rId11"/>
    <p:sldId id="271" r:id="rId12"/>
    <p:sldId id="272" r:id="rId13"/>
    <p:sldId id="281" r:id="rId14"/>
    <p:sldId id="262" r:id="rId15"/>
    <p:sldId id="273" r:id="rId16"/>
    <p:sldId id="274" r:id="rId17"/>
    <p:sldId id="280" r:id="rId18"/>
    <p:sldId id="279" r:id="rId19"/>
    <p:sldId id="275" r:id="rId20"/>
    <p:sldId id="276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518C8BC-8400-4416-94E4-5FB1B09A2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1ED499C-515A-4708-B599-970C6EE63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1A40B15-C9B2-4EC2-90E3-92C824C2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0F6326E-6642-42D6-9D4E-223F266D2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AF76B85-783A-4404-97B2-5DDE4E7A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62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A93FB4F-6FA5-445A-AE7D-2C3A2E92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FCD6DD9-F9D0-4732-8A75-92F54550B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8D08C95-22C7-4E44-A8A9-44FB6E1A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93F5150-B4F5-4B9A-BBD1-DE1ED918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20829A5-CCC4-43F5-AE38-B57E7F37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924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9A4FF8B-E843-4A59-9D93-2D7473F7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15FFE22-DBF8-4701-9DB8-F3C7CEE91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3989181-3DCE-46A3-A37C-9EBB2400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FF9DC90-9B99-40F2-B931-CD504F9C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0C9FD1D-4C1A-4088-897E-F41E4B16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4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8216FAC-DC36-4649-8172-38511308A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F448368-5FF2-4436-B691-550A84AF7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6FB8E51E-B6EC-4B0B-9EF6-030CBD05E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F9F3C3A4-C10D-4E7D-B4AA-E31B8B49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6BED57D8-A630-4AEC-9083-E2B0C971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E21F17A8-FF6B-4A21-B42E-612AAD52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907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364531C-F51C-4F31-B1DE-CB93C5B5B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758DF3A-C301-4E9C-AA93-5E4C0B4DE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6D2940EB-1C94-4567-970D-95207B3A9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03028963-8BF1-4829-B6F0-CAFF55A5A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0ED4B3F4-5F11-4B59-9368-A683DA7DB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F6817AE2-EA89-4FD5-8457-C521162B9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2DE4BA9E-2DEE-4981-84A6-46792D5DC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E3009657-9A6D-4CDC-89B0-56F44102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43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935E2A3-72C5-4A81-BC6B-B09C0595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DE58D712-29A2-4652-99D1-CD4832167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0AC9F40C-9030-4DC8-AC9C-1144C5828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0618D9FF-D8B6-4C35-9909-3871F07B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12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9A420FA1-5287-49D0-80AB-5473A558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CAEE660E-54AE-4C5F-A9AC-05E9C3D60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06FB4915-FFBA-4A56-AB7B-C7DA490B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485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46FAF5B-BA73-4D9D-BA77-F9B6E84B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FD5DDEF-7067-474A-9A85-79C5E0856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46E641D-D948-4AAF-9EC9-6232BADF6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B12BA88-CF4F-45DD-A12C-AD8A69F1C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A89F2C1-82F5-4812-A20E-9A1FCCDC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6EEF832D-E690-473A-920A-CE299BDE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849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783A972-E1A9-42C2-8E72-F267EF056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639B5EF6-DF0C-49CC-8365-173959A8E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61D1549-19B5-4FBB-8B1C-D1C4D64C4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C871F4F-FB5B-4CA2-976C-22BEFF89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8DF87828-9C47-4668-9CB6-ACF78039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88379E7-5873-4D7E-BAD6-637A1A6F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83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E17ECC3-F088-42E1-8A57-15C39A39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62CCC298-A2F5-4B8C-9DAF-F9DF2E3C0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8703DC0-3100-413A-BF00-BF3ADAE0F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313C1933-4E9D-496F-8B80-4E9E4235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1630003-AF4E-44B0-9C44-ADD5276C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338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C7B073DD-F60D-4D95-AC3E-80E3BA5BC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ECDC3A6C-3818-42D4-B79F-9C2300688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C4F72BB-7546-4780-9088-22661163C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D662595-E95C-429B-914A-770E66AD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607093E-BA8A-40BE-B46F-36FA8A06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2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344AACD-E94C-4103-819B-7DF5102A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F4A2F3B-C222-4922-9EB3-DEF1FCB23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C5F2E12-1B19-410D-98D5-D95A328C3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309A4-6AB7-4D5C-9F19-2E053FF7AB9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82FF8B5-2FFC-4A7A-A1A3-9EEFD10BA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0DC08D2-6AD2-44EB-A34D-F1AE98AC7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64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java-design-patterns.com/" TargetMode="External"/><Relationship Id="rId2" Type="http://schemas.openxmlformats.org/officeDocument/2006/relationships/hyperlink" Target="https://refactoring.guru/ru/design-pattern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FB83EB7-F706-46D3-A365-6B77E3E94A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Java. </a:t>
            </a:r>
            <a:r>
              <a:rPr lang="ru-RU" dirty="0"/>
              <a:t>Прокси и мост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E6E9823B-E085-4F52-8710-37347966F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376" y="4498789"/>
            <a:ext cx="4993341" cy="157330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Презентация создана студентками группы 5030102/30202</a:t>
            </a:r>
          </a:p>
          <a:p>
            <a:r>
              <a:rPr lang="ru-RU" dirty="0"/>
              <a:t>Киселевой Ксенией и </a:t>
            </a:r>
            <a:endParaRPr lang="ru-RU" dirty="0" smtClean="0"/>
          </a:p>
          <a:p>
            <a:r>
              <a:rPr lang="ru-RU" dirty="0" err="1" smtClean="0"/>
              <a:t>Ятмановой</a:t>
            </a:r>
            <a:r>
              <a:rPr lang="ru-RU" dirty="0" smtClean="0"/>
              <a:t> </a:t>
            </a:r>
            <a:r>
              <a:rPr lang="ru-RU" dirty="0"/>
              <a:t>Анной</a:t>
            </a:r>
          </a:p>
        </p:txBody>
      </p:sp>
    </p:spTree>
    <p:extLst>
      <p:ext uri="{BB962C8B-B14F-4D97-AF65-F5344CB8AC3E}">
        <p14:creationId xmlns:p14="http://schemas.microsoft.com/office/powerpoint/2010/main" val="406453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ADDCB90-807D-41D7-9B09-32EF3AB9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Краткий обзор того, о чем будем говорить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9C3019B-D49F-49A9-BD84-2A1B60465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Введение в паттерны проектирования </a:t>
            </a:r>
          </a:p>
          <a:p>
            <a:r>
              <a:rPr lang="ru-RU" dirty="0"/>
              <a:t>Паттерн </a:t>
            </a:r>
            <a:r>
              <a:rPr lang="ru-RU" dirty="0" err="1"/>
              <a:t>Proxy</a:t>
            </a:r>
            <a:r>
              <a:rPr lang="ru-RU" dirty="0"/>
              <a:t>: суть, виды, пример в </a:t>
            </a:r>
            <a:r>
              <a:rPr lang="ru-RU" dirty="0" err="1"/>
              <a:t>Java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err="1"/>
              <a:t>Proxy</a:t>
            </a:r>
            <a:r>
              <a:rPr lang="ru-RU" dirty="0"/>
              <a:t> и Декоратор: в чём разница?</a:t>
            </a:r>
          </a:p>
          <a:p>
            <a:r>
              <a:rPr lang="ru-RU" dirty="0"/>
              <a:t>Паттерн </a:t>
            </a:r>
            <a:r>
              <a:rPr lang="ru-RU" dirty="0" err="1"/>
              <a:t>Bridge</a:t>
            </a:r>
            <a:r>
              <a:rPr lang="ru-RU" dirty="0"/>
              <a:t>: суть, проблема, которую решает, пример в </a:t>
            </a:r>
            <a:r>
              <a:rPr lang="ru-RU" dirty="0" err="1"/>
              <a:t>Java</a:t>
            </a:r>
            <a:r>
              <a:rPr lang="ru-RU" dirty="0"/>
              <a:t> </a:t>
            </a:r>
          </a:p>
          <a:p>
            <a:r>
              <a:rPr lang="ru-RU" dirty="0"/>
              <a:t>Сравнение </a:t>
            </a:r>
            <a:r>
              <a:rPr lang="ru-RU" dirty="0" err="1"/>
              <a:t>Proxy</a:t>
            </a:r>
            <a:r>
              <a:rPr lang="ru-RU" dirty="0"/>
              <a:t> и </a:t>
            </a:r>
            <a:r>
              <a:rPr lang="ru-RU" dirty="0" err="1"/>
              <a:t>Bridge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915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B9FFD82-B737-461D-8AB6-B2DA0B16B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Введение: Что такое паттерны?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EFE6B08-08A9-437C-809A-DC4C8182F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Паттерн проектирования</a:t>
            </a:r>
            <a:r>
              <a:rPr lang="ru-RU" dirty="0"/>
              <a:t> — это часто встречающееся решение определённой проблемы при проектировании архитектуры программ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/>
              <a:t>Паттерн представляет собой не какой-то конкретный код, а общую концепцию решения той или иной проблемы, которую нужно будет ещё подстроить под нужды вашей программы.</a:t>
            </a:r>
          </a:p>
          <a:p>
            <a:pPr marL="0" indent="0">
              <a:buNone/>
            </a:pPr>
            <a:r>
              <a:rPr lang="ru-RU" dirty="0"/>
              <a:t>Зачем они нужны? </a:t>
            </a:r>
          </a:p>
          <a:p>
            <a:r>
              <a:rPr lang="ru-RU" dirty="0"/>
              <a:t>Стандартизируют код </a:t>
            </a:r>
          </a:p>
          <a:p>
            <a:r>
              <a:rPr lang="ru-RU" dirty="0"/>
              <a:t>Ускоряют разработку</a:t>
            </a:r>
          </a:p>
          <a:p>
            <a:r>
              <a:rPr lang="ru-RU" dirty="0"/>
              <a:t>Облегчают понимание кода другими разработчиками</a:t>
            </a:r>
          </a:p>
        </p:txBody>
      </p:sp>
    </p:spTree>
    <p:extLst>
      <p:ext uri="{BB962C8B-B14F-4D97-AF65-F5344CB8AC3E}">
        <p14:creationId xmlns:p14="http://schemas.microsoft.com/office/powerpoint/2010/main" val="177357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9A1ACD0-CA8C-49BC-94C2-8FDC1A2BF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Паттерн </a:t>
            </a:r>
            <a:r>
              <a:rPr lang="en-US" dirty="0"/>
              <a:t>Proxy (</a:t>
            </a:r>
            <a:r>
              <a:rPr lang="ru-RU" dirty="0"/>
              <a:t>Заместитель)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B64C79F-E6AC-4A0B-B6AB-A76FF2654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Объект-«заместитель», который контролирует доступ к другому объекту («реальному субъекту»).</a:t>
            </a:r>
          </a:p>
          <a:p>
            <a:r>
              <a:rPr lang="ru-RU" dirty="0"/>
              <a:t>Прокси реализует тот же интерфейс, что и реальный объект, и перехватывает вызовы к нему.</a:t>
            </a:r>
          </a:p>
        </p:txBody>
      </p:sp>
    </p:spTree>
    <p:extLst>
      <p:ext uri="{BB962C8B-B14F-4D97-AF65-F5344CB8AC3E}">
        <p14:creationId xmlns:p14="http://schemas.microsoft.com/office/powerpoint/2010/main" val="127498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2BF39FE-C7BF-4701-B93A-3F25A2345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Зачем нужен </a:t>
            </a:r>
            <a:r>
              <a:rPr lang="en-US" dirty="0"/>
              <a:t>Proxy?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8302" y="1547016"/>
            <a:ext cx="5029636" cy="215664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022" y="3965562"/>
            <a:ext cx="5944115" cy="239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7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7F30828-3A82-4213-ABBF-15ECD30D2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946" y="-113776"/>
            <a:ext cx="10515600" cy="1325563"/>
          </a:xfrm>
        </p:spPr>
        <p:txBody>
          <a:bodyPr/>
          <a:lstStyle/>
          <a:p>
            <a:pPr algn="ctr"/>
            <a:r>
              <a:rPr lang="ru-RU" dirty="0" err="1" smtClean="0"/>
              <a:t>Proxy</a:t>
            </a:r>
            <a:r>
              <a:rPr lang="ru-RU" dirty="0" smtClean="0"/>
              <a:t>: </a:t>
            </a:r>
            <a:r>
              <a:rPr lang="ru-RU" dirty="0"/>
              <a:t>Схема и пример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293" y="1489542"/>
            <a:ext cx="8931414" cy="387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5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Proxy: </a:t>
            </a:r>
            <a:r>
              <a:rPr lang="ru-RU" dirty="0" smtClean="0"/>
              <a:t>пример с кодом.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1813" y="1913799"/>
            <a:ext cx="5068268" cy="380120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976" y="1475022"/>
            <a:ext cx="3943900" cy="136226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4" y="3060398"/>
            <a:ext cx="6725589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507" y="160421"/>
            <a:ext cx="6544588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028" y="4530234"/>
            <a:ext cx="4582164" cy="70494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928" y="1946795"/>
            <a:ext cx="6026331" cy="165166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r="4758" b="3247"/>
          <a:stretch/>
        </p:blipFill>
        <p:spPr>
          <a:xfrm>
            <a:off x="371896" y="1423352"/>
            <a:ext cx="5114920" cy="435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55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1962" b="6218"/>
          <a:stretch/>
        </p:blipFill>
        <p:spPr>
          <a:xfrm>
            <a:off x="4552166" y="0"/>
            <a:ext cx="7491845" cy="376093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3345" t="4905" r="3667" b="13678"/>
          <a:stretch/>
        </p:blipFill>
        <p:spPr>
          <a:xfrm>
            <a:off x="0" y="3714172"/>
            <a:ext cx="7854584" cy="289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45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4989" y="41101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Применимость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4989" y="1115922"/>
            <a:ext cx="10515600" cy="4580415"/>
          </a:xfrm>
        </p:spPr>
        <p:txBody>
          <a:bodyPr>
            <a:normAutofit/>
          </a:bodyPr>
          <a:lstStyle/>
          <a:p>
            <a:r>
              <a:rPr lang="ru-RU" sz="2400" dirty="0"/>
              <a:t>Ленивая инициализация (виртуальный прокси</a:t>
            </a:r>
            <a:r>
              <a:rPr lang="ru-RU" sz="2400" dirty="0" smtClean="0"/>
              <a:t>).</a:t>
            </a:r>
          </a:p>
          <a:p>
            <a:pPr marL="0" indent="0">
              <a:buNone/>
            </a:pPr>
            <a:r>
              <a:rPr lang="ru-RU" sz="1900" dirty="0" smtClean="0"/>
              <a:t>Когда </a:t>
            </a:r>
            <a:r>
              <a:rPr lang="ru-RU" sz="1900" dirty="0"/>
              <a:t>у вас есть тяжёлый объект, грузящий данные из файловой системы или базы </a:t>
            </a:r>
            <a:r>
              <a:rPr lang="ru-RU" sz="1900" dirty="0" smtClean="0"/>
              <a:t>данных</a:t>
            </a:r>
            <a:endParaRPr lang="ru-RU" sz="1900" dirty="0"/>
          </a:p>
          <a:p>
            <a:r>
              <a:rPr lang="ru-RU" sz="2400" dirty="0"/>
              <a:t>Защита доступа (защищающий прокси). </a:t>
            </a:r>
            <a:endParaRPr lang="ru-RU" sz="2400" dirty="0" smtClean="0"/>
          </a:p>
          <a:p>
            <a:pPr marL="0" indent="0">
              <a:buNone/>
            </a:pPr>
            <a:r>
              <a:rPr lang="ru-RU" sz="1900" dirty="0" smtClean="0"/>
              <a:t>Когда </a:t>
            </a:r>
            <a:r>
              <a:rPr lang="ru-RU" sz="1900" dirty="0"/>
              <a:t>в программе есть разные типы пользователей, и вам хочется защищать объект от неавторизованного доступа</a:t>
            </a:r>
            <a:r>
              <a:rPr lang="ru-RU" sz="1900" dirty="0" smtClean="0"/>
              <a:t>.</a:t>
            </a:r>
          </a:p>
          <a:p>
            <a:r>
              <a:rPr lang="ru-RU" sz="2400" dirty="0"/>
              <a:t>Локальный запуск сервиса (удалённый прокси). </a:t>
            </a:r>
            <a:endParaRPr lang="ru-RU" sz="2400" dirty="0" smtClean="0"/>
          </a:p>
          <a:p>
            <a:pPr marL="0" indent="0">
              <a:buNone/>
            </a:pPr>
            <a:r>
              <a:rPr lang="ru-RU" sz="1900" dirty="0" smtClean="0"/>
              <a:t>Когда </a:t>
            </a:r>
            <a:r>
              <a:rPr lang="ru-RU" sz="1900" dirty="0"/>
              <a:t>настоящий сервисный объект находится на удалённом сервере</a:t>
            </a:r>
            <a:r>
              <a:rPr lang="ru-RU" sz="1900" dirty="0" smtClean="0"/>
              <a:t>.</a:t>
            </a:r>
          </a:p>
          <a:p>
            <a:r>
              <a:rPr lang="ru-RU" sz="2400" dirty="0" err="1"/>
              <a:t>Логирование</a:t>
            </a:r>
            <a:r>
              <a:rPr lang="ru-RU" sz="2400" dirty="0"/>
              <a:t> запросов (</a:t>
            </a:r>
            <a:r>
              <a:rPr lang="ru-RU" sz="2400" dirty="0" err="1"/>
              <a:t>логирующий</a:t>
            </a:r>
            <a:r>
              <a:rPr lang="ru-RU" sz="2400" dirty="0"/>
              <a:t> прокси). </a:t>
            </a:r>
            <a:endParaRPr lang="ru-RU" sz="2400" dirty="0" smtClean="0"/>
          </a:p>
          <a:p>
            <a:pPr marL="0" indent="0">
              <a:buNone/>
            </a:pPr>
            <a:r>
              <a:rPr lang="ru-RU" sz="1900" dirty="0" smtClean="0"/>
              <a:t>Когда </a:t>
            </a:r>
            <a:r>
              <a:rPr lang="ru-RU" sz="1900" dirty="0"/>
              <a:t>требуется хранить историю обращений к сервисному объекту</a:t>
            </a:r>
            <a:r>
              <a:rPr lang="ru-RU" sz="1900" dirty="0" smtClean="0"/>
              <a:t>.</a:t>
            </a:r>
          </a:p>
          <a:p>
            <a:r>
              <a:rPr lang="ru-RU" sz="2400" dirty="0"/>
              <a:t>Кеширование объектов («умная» ссылка). </a:t>
            </a:r>
            <a:endParaRPr lang="ru-RU" sz="2400" dirty="0" smtClean="0"/>
          </a:p>
          <a:p>
            <a:pPr marL="0" indent="0">
              <a:buNone/>
            </a:pPr>
            <a:r>
              <a:rPr lang="ru-RU" sz="1900" dirty="0" smtClean="0"/>
              <a:t>Когда </a:t>
            </a:r>
            <a:r>
              <a:rPr lang="ru-RU" sz="1900" dirty="0"/>
              <a:t>нужно кешировать результаты запросов клиентов и управлять их жизненным циклом.</a:t>
            </a:r>
            <a:endParaRPr lang="ru-RU" sz="190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0875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Преимущества и недостатки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Позволяет контролировать сервисный объект незаметно для клиента.</a:t>
            </a:r>
          </a:p>
          <a:p>
            <a:r>
              <a:rPr lang="ru-RU" dirty="0"/>
              <a:t> Может работать, даже если сервисный объект ещё не создан.</a:t>
            </a:r>
          </a:p>
          <a:p>
            <a:r>
              <a:rPr lang="ru-RU" dirty="0"/>
              <a:t> Может контролировать жизненный цикл служебного объекта.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Усложняет код программы из-за введения дополнительных классов.</a:t>
            </a:r>
          </a:p>
          <a:p>
            <a:r>
              <a:rPr lang="ru-RU" dirty="0"/>
              <a:t> Увеличивает время отклика от сервиса.</a:t>
            </a:r>
          </a:p>
        </p:txBody>
      </p:sp>
    </p:spTree>
    <p:extLst>
      <p:ext uri="{BB962C8B-B14F-4D97-AF65-F5344CB8AC3E}">
        <p14:creationId xmlns:p14="http://schemas.microsoft.com/office/powerpoint/2010/main" val="383445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Proxy</a:t>
            </a:r>
            <a:r>
              <a:rPr lang="ru-RU" dirty="0"/>
              <a:t> и Декоратор: в чём разница?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12285"/>
              </p:ext>
            </p:extLst>
          </p:nvPr>
        </p:nvGraphicFramePr>
        <p:xfrm>
          <a:off x="1190080" y="1802234"/>
          <a:ext cx="9811839" cy="4398120"/>
        </p:xfrm>
        <a:graphic>
          <a:graphicData uri="http://schemas.openxmlformats.org/drawingml/2006/table">
            <a:tbl>
              <a:tblPr/>
              <a:tblGrid>
                <a:gridCol w="3270613">
                  <a:extLst>
                    <a:ext uri="{9D8B030D-6E8A-4147-A177-3AD203B41FA5}">
                      <a16:colId xmlns:a16="http://schemas.microsoft.com/office/drawing/2014/main" xmlns="" val="3968655086"/>
                    </a:ext>
                  </a:extLst>
                </a:gridCol>
                <a:gridCol w="3270613">
                  <a:extLst>
                    <a:ext uri="{9D8B030D-6E8A-4147-A177-3AD203B41FA5}">
                      <a16:colId xmlns:a16="http://schemas.microsoft.com/office/drawing/2014/main" xmlns="" val="2452883308"/>
                    </a:ext>
                  </a:extLst>
                </a:gridCol>
                <a:gridCol w="3270613">
                  <a:extLst>
                    <a:ext uri="{9D8B030D-6E8A-4147-A177-3AD203B41FA5}">
                      <a16:colId xmlns:a16="http://schemas.microsoft.com/office/drawing/2014/main" xmlns="" val="778681899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r>
                        <a:rPr lang="ru-RU" sz="1700" dirty="0"/>
                        <a:t>Критерий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Proxy (</a:t>
                      </a:r>
                      <a:r>
                        <a:rPr lang="ru-RU" sz="1700" dirty="0"/>
                        <a:t>Заместитель)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Decorator (</a:t>
                      </a:r>
                      <a:r>
                        <a:rPr lang="ru-RU" sz="1700" dirty="0"/>
                        <a:t>Декоратор)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074679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ru-RU" sz="1700" b="1" dirty="0"/>
                        <a:t>Цель</a:t>
                      </a:r>
                      <a:endParaRPr lang="ru-RU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/>
                        <a:t>Контролирует доступ к объекту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Расширяет поведение объекта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47380730"/>
                  </a:ext>
                </a:extLst>
              </a:tr>
              <a:tr h="1365126">
                <a:tc>
                  <a:txBody>
                    <a:bodyPr/>
                    <a:lstStyle/>
                    <a:p>
                      <a:r>
                        <a:rPr lang="ru-RU" sz="1700" b="1" dirty="0"/>
                        <a:t>Когда используется</a:t>
                      </a:r>
                      <a:endParaRPr lang="ru-RU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/>
                        <a:t>Когда нужно добавить промежуточную логику — например, кэширование, контроль прав, отложенную загрузку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/>
                        <a:t>Когда нужно динамически добавить функциональность без изменения исходного класса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66295094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r>
                        <a:rPr lang="ru-RU" sz="1700" b="1" dirty="0"/>
                        <a:t>Создание объекта</a:t>
                      </a:r>
                      <a:endParaRPr lang="ru-RU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Может сам создавать или управлять реальным объектом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Не создаёт объект — получает его «готовым» и просто оборачивает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18447202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r>
                        <a:rPr lang="ru-RU" sz="1700" b="1" dirty="0"/>
                        <a:t>Прозрачность для клиента</a:t>
                      </a:r>
                      <a:endParaRPr lang="ru-RU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Клиент обычно не знает, что работает с прокси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Клиент знает, что объект «обёрнут» в дополнительные возможности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39247424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ru-RU" sz="1700" b="1" dirty="0"/>
                        <a:t>Типичные примеры</a:t>
                      </a:r>
                      <a:endParaRPr lang="ru-RU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Кэш, защита, ленивая загрузка, сетевые запросы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/>
                        <a:t>Добавление логов, визуальных эффектов, поведения GUI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9098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175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19D598A-E434-4A9E-8439-CBC5D368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349" y="-123523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Паттерн </a:t>
            </a:r>
            <a:r>
              <a:rPr lang="en-US" dirty="0"/>
              <a:t>Bridge — </a:t>
            </a:r>
            <a:r>
              <a:rPr lang="ru-RU" dirty="0" smtClean="0"/>
              <a:t>проблема и решение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252" y="2668813"/>
            <a:ext cx="4679085" cy="160033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149" y="2007737"/>
            <a:ext cx="4884843" cy="307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94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Bridge: </a:t>
            </a:r>
            <a:r>
              <a:rPr lang="ru-RU" dirty="0" smtClean="0"/>
              <a:t>схема и пример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2078" y="1690688"/>
            <a:ext cx="5116249" cy="435133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01" y="1459865"/>
            <a:ext cx="4823878" cy="231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11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Bridge: </a:t>
            </a:r>
            <a:r>
              <a:rPr lang="ru-RU" dirty="0" smtClean="0"/>
              <a:t>пример с кодом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41" y="1066483"/>
            <a:ext cx="3442308" cy="4199255"/>
          </a:xfrm>
          <a:prstGeom prst="rect">
            <a:avLst/>
          </a:prstGeom>
        </p:spPr>
      </p:pic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06939" y="3909377"/>
            <a:ext cx="3863675" cy="274343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939" y="1066483"/>
            <a:ext cx="3477633" cy="269081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204" y="1153569"/>
            <a:ext cx="4371363" cy="487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88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12532" cy="570025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298" y="314371"/>
            <a:ext cx="4357766" cy="280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53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42" y="219502"/>
            <a:ext cx="5630118" cy="417832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583" y="2598242"/>
            <a:ext cx="6111770" cy="40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243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Применимость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31135"/>
          </a:xfrm>
        </p:spPr>
        <p:txBody>
          <a:bodyPr>
            <a:normAutofit/>
          </a:bodyPr>
          <a:lstStyle/>
          <a:p>
            <a:r>
              <a:rPr lang="ru-RU" sz="2400" dirty="0"/>
              <a:t>Когда вы хотите избежать постоянной привязки абстракции и реализации.</a:t>
            </a:r>
          </a:p>
          <a:p>
            <a:r>
              <a:rPr lang="ru-RU" sz="2400" dirty="0"/>
              <a:t>Когда и абстракции, и реализации должны расширяться через наследование.</a:t>
            </a:r>
          </a:p>
          <a:p>
            <a:r>
              <a:rPr lang="ru-RU" sz="2400" dirty="0"/>
              <a:t>Когда изменения в реализации не должны отражаться на клиентах.</a:t>
            </a:r>
          </a:p>
          <a:p>
            <a:r>
              <a:rPr lang="ru-RU" sz="2400" dirty="0"/>
              <a:t>Когда вы хотите скрыть от клиента детали реализации.</a:t>
            </a:r>
          </a:p>
          <a:p>
            <a:r>
              <a:rPr lang="ru-RU" sz="2400" dirty="0"/>
              <a:t>Когда у вас есть множество классов, ведущих к раздуванию иерархии.</a:t>
            </a:r>
          </a:p>
        </p:txBody>
      </p:sp>
    </p:spTree>
    <p:extLst>
      <p:ext uri="{BB962C8B-B14F-4D97-AF65-F5344CB8AC3E}">
        <p14:creationId xmlns:p14="http://schemas.microsoft.com/office/powerpoint/2010/main" val="133679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Преимущества и недостатки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Позволяет строить </a:t>
            </a:r>
            <a:r>
              <a:rPr lang="ru-RU" sz="2400" dirty="0" err="1"/>
              <a:t>платформо</a:t>
            </a:r>
            <a:r>
              <a:rPr lang="ru-RU" sz="2400" dirty="0"/>
              <a:t>-независимые программы.</a:t>
            </a:r>
          </a:p>
          <a:p>
            <a:r>
              <a:rPr lang="ru-RU" sz="2400" dirty="0"/>
              <a:t> Скрывает лишние или опасные детали реализации от клиентского кода.</a:t>
            </a:r>
          </a:p>
          <a:p>
            <a:r>
              <a:rPr lang="ru-RU" sz="2400" dirty="0"/>
              <a:t> Реализует принцип открытости/закрытости.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Усложняет код программы из-за введения дополнительных классов.</a:t>
            </a:r>
          </a:p>
        </p:txBody>
      </p:sp>
    </p:spTree>
    <p:extLst>
      <p:ext uri="{BB962C8B-B14F-4D97-AF65-F5344CB8AC3E}">
        <p14:creationId xmlns:p14="http://schemas.microsoft.com/office/powerpoint/2010/main" val="154409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7732DD9-BB30-40EB-BC82-BFA47ADD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7" y="-237333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Сравнение </a:t>
            </a:r>
            <a:r>
              <a:rPr lang="en-US" dirty="0"/>
              <a:t>Proxy </a:t>
            </a:r>
            <a:r>
              <a:rPr lang="ru-RU" dirty="0"/>
              <a:t>и </a:t>
            </a:r>
            <a:r>
              <a:rPr lang="en-US" dirty="0"/>
              <a:t>Bridge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23841" y="4326633"/>
            <a:ext cx="3584186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Proxy</a:t>
            </a:r>
            <a:r>
              <a:rPr lang="ru-RU" dirty="0" smtClean="0"/>
              <a:t> пример: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Ленивая загрузка изображений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Защита доступа к объекту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Кэширование результатов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008027" y="4326633"/>
            <a:ext cx="32538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Bridge </a:t>
            </a:r>
            <a:r>
              <a:rPr lang="ru-RU" dirty="0" smtClean="0"/>
              <a:t>пример: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Пульты + устройства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GUI +</a:t>
            </a:r>
            <a:r>
              <a:rPr lang="ru-RU" dirty="0" smtClean="0"/>
              <a:t> платформы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680960" y="4188133"/>
            <a:ext cx="40233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Ключевое отличие:</a:t>
            </a:r>
          </a:p>
          <a:p>
            <a:r>
              <a:rPr lang="en-US" dirty="0" smtClean="0"/>
              <a:t>Proxy</a:t>
            </a:r>
            <a:r>
              <a:rPr lang="ru-RU" dirty="0" smtClean="0"/>
              <a:t>: работает с одним объектом через тот же интерфейс</a:t>
            </a:r>
          </a:p>
          <a:p>
            <a:r>
              <a:rPr lang="en-US" dirty="0" smtClean="0"/>
              <a:t>Bridge</a:t>
            </a:r>
            <a:r>
              <a:rPr lang="ru-RU" dirty="0" smtClean="0"/>
              <a:t>: соединяет две разные иерархии классов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20166"/>
              </p:ext>
            </p:extLst>
          </p:nvPr>
        </p:nvGraphicFramePr>
        <p:xfrm>
          <a:off x="423841" y="979974"/>
          <a:ext cx="1128048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159">
                  <a:extLst>
                    <a:ext uri="{9D8B030D-6E8A-4147-A177-3AD203B41FA5}">
                      <a16:colId xmlns:a16="http://schemas.microsoft.com/office/drawing/2014/main" xmlns="" val="2873853598"/>
                    </a:ext>
                  </a:extLst>
                </a:gridCol>
                <a:gridCol w="4622800">
                  <a:extLst>
                    <a:ext uri="{9D8B030D-6E8A-4147-A177-3AD203B41FA5}">
                      <a16:colId xmlns:a16="http://schemas.microsoft.com/office/drawing/2014/main" xmlns="" val="1974546654"/>
                    </a:ext>
                  </a:extLst>
                </a:gridCol>
                <a:gridCol w="5049521">
                  <a:extLst>
                    <a:ext uri="{9D8B030D-6E8A-4147-A177-3AD203B41FA5}">
                      <a16:colId xmlns:a16="http://schemas.microsoft.com/office/drawing/2014/main" xmlns="" val="2472882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Критерий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Proxy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Bridge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6038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Цель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Контроль доступа к объекту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Разделение абстракции и реализации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3554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Структура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Прокси и реальный объект реализуют один интерфейс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Две разные иерархии классов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7287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Отношения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«оборачивает» один конкретный объект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«связывает» абстракцию</a:t>
                      </a:r>
                      <a:r>
                        <a:rPr lang="ru-RU" baseline="0" dirty="0" smtClean="0"/>
                        <a:t> с реализацией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4836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Принцип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Заместительство, обёртка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Композиция </a:t>
                      </a:r>
                      <a:r>
                        <a:rPr lang="en-US" dirty="0" smtClean="0"/>
                        <a:t>&gt;</a:t>
                      </a:r>
                      <a:r>
                        <a:rPr lang="ru-RU" baseline="0" dirty="0" smtClean="0"/>
                        <a:t> наследование, разделение ответственности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22641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18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7D4EBF3-E748-4A02-895D-A3A413CF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78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Итоги и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B63D435-7BB4-4D1C-A2CF-6F7C80742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5966"/>
            <a:ext cx="10515600" cy="4351338"/>
          </a:xfrm>
        </p:spPr>
        <p:txBody>
          <a:bodyPr/>
          <a:lstStyle/>
          <a:p>
            <a:r>
              <a:rPr lang="ru-RU" dirty="0" err="1"/>
              <a:t>Proxy</a:t>
            </a:r>
            <a:r>
              <a:rPr lang="ru-RU" dirty="0"/>
              <a:t> — это паттерн-«обертка» для управления доступом к объекту. </a:t>
            </a:r>
          </a:p>
          <a:p>
            <a:r>
              <a:rPr lang="ru-RU" dirty="0" err="1"/>
              <a:t>Bridge</a:t>
            </a:r>
            <a:r>
              <a:rPr lang="ru-RU" dirty="0"/>
              <a:t> — это паттерн-«архитектор», который борется с разрастанием классов через разделение на абстракцию и реализацию. </a:t>
            </a:r>
          </a:p>
          <a:p>
            <a:r>
              <a:rPr lang="ru-RU" dirty="0"/>
              <a:t>Оба паттерна используют композицию, но для разных целей. </a:t>
            </a:r>
          </a:p>
          <a:p>
            <a:r>
              <a:rPr lang="ru-RU" dirty="0"/>
              <a:t>Их знание помогает писать гибкий, масштабируемый и чистый код на </a:t>
            </a:r>
            <a:r>
              <a:rPr lang="ru-RU" dirty="0" err="1"/>
              <a:t>Java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8178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2AD3F13-C948-4CEA-98EA-25AC981D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AEDAD8C-93F2-41DF-AE7F-7F141C7A0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55084"/>
          </a:xfrm>
        </p:spPr>
        <p:txBody>
          <a:bodyPr>
            <a:normAutofit fontScale="92500" lnSpcReduction="20000"/>
          </a:bodyPr>
          <a:lstStyle/>
          <a:p>
            <a:r>
              <a:rPr lang="ru-RU" sz="3600" dirty="0"/>
              <a:t>Книга </a:t>
            </a:r>
            <a:r>
              <a:rPr lang="en-US" sz="3600" dirty="0"/>
              <a:t>Design Patterns: Elements of Reusable Object-Oriented Software</a:t>
            </a:r>
            <a:r>
              <a:rPr lang="ru-RU" sz="3600" dirty="0"/>
              <a:t> - </a:t>
            </a:r>
            <a:r>
              <a:rPr lang="en-US" sz="3600" dirty="0"/>
              <a:t>Erich Gamma, Richard Helm, Ralph Johnson, John </a:t>
            </a:r>
            <a:r>
              <a:rPr lang="en-US" sz="3600" dirty="0" err="1"/>
              <a:t>Vlissides</a:t>
            </a:r>
            <a:endParaRPr lang="ru-RU" sz="3600" dirty="0"/>
          </a:p>
          <a:p>
            <a:r>
              <a:rPr lang="ru-RU" sz="3600" dirty="0"/>
              <a:t>Онлайн-ресурс </a:t>
            </a:r>
            <a:r>
              <a:rPr lang="en-US" sz="3600" dirty="0">
                <a:hlinkClick r:id="rId2"/>
              </a:rPr>
              <a:t>https://refactoring.guru/ru/design-patterns</a:t>
            </a:r>
            <a:endParaRPr lang="ru-RU" sz="3600" dirty="0"/>
          </a:p>
          <a:p>
            <a:r>
              <a:rPr lang="ru-RU" sz="3600" dirty="0"/>
              <a:t>Онлайн-ресурс </a:t>
            </a:r>
            <a:r>
              <a:rPr lang="en-US" sz="3600" dirty="0">
                <a:hlinkClick r:id="rId3"/>
              </a:rPr>
              <a:t>https://java-design-patterns.com/</a:t>
            </a:r>
            <a:endParaRPr lang="ru-RU" sz="3600" dirty="0"/>
          </a:p>
          <a:p>
            <a:endParaRPr lang="ru-RU" sz="3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582" y="4362994"/>
            <a:ext cx="3738033" cy="216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867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661</Words>
  <Application>Microsoft Office PowerPoint</Application>
  <PresentationFormat>Широкоэкранный</PresentationFormat>
  <Paragraphs>108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Тема Office</vt:lpstr>
      <vt:lpstr>Java. Прокси и мост</vt:lpstr>
      <vt:lpstr>Краткий обзор того, о чем будем говорить</vt:lpstr>
      <vt:lpstr>Введение: Что такое паттерны?</vt:lpstr>
      <vt:lpstr>Паттерн Proxy (Заместитель)</vt:lpstr>
      <vt:lpstr>Зачем нужен Proxy?</vt:lpstr>
      <vt:lpstr>Proxy: Схема и пример</vt:lpstr>
      <vt:lpstr>Proxy: пример с кодом.</vt:lpstr>
      <vt:lpstr>Презентация PowerPoint</vt:lpstr>
      <vt:lpstr>Презентация PowerPoint</vt:lpstr>
      <vt:lpstr>Презентация PowerPoint</vt:lpstr>
      <vt:lpstr>Применимость </vt:lpstr>
      <vt:lpstr>Преимущества и недостатки</vt:lpstr>
      <vt:lpstr>Proxy и Декоратор: в чём разница?</vt:lpstr>
      <vt:lpstr>Паттерн Bridge — проблема и решение</vt:lpstr>
      <vt:lpstr>Bridge: схема и пример</vt:lpstr>
      <vt:lpstr>Bridge: пример с кодом</vt:lpstr>
      <vt:lpstr>Презентация PowerPoint</vt:lpstr>
      <vt:lpstr>Презентация PowerPoint</vt:lpstr>
      <vt:lpstr>Применимость</vt:lpstr>
      <vt:lpstr>Преимущества и недостатки</vt:lpstr>
      <vt:lpstr>Сравнение Proxy и Bridge</vt:lpstr>
      <vt:lpstr>Итоги и Выводы</vt:lpstr>
      <vt:lpstr>Спасибо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Java. Прокси и мост</dc:title>
  <dc:creator>Ятманова Анна Вячеславовна</dc:creator>
  <cp:lastModifiedBy>Учетная запись Майкрософт</cp:lastModifiedBy>
  <cp:revision>55</cp:revision>
  <dcterms:created xsi:type="dcterms:W3CDTF">2025-09-11T09:00:10Z</dcterms:created>
  <dcterms:modified xsi:type="dcterms:W3CDTF">2025-12-13T07:59:58Z</dcterms:modified>
</cp:coreProperties>
</file>