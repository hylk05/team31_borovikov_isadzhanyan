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2E51F9-5D2B-4B52-AA4F-1B9E1B7D14DB}" v="571" dt="2025-12-06T12:03:46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197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648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23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62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19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08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60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65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66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08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523649"/>
            <a:ext cx="9144000" cy="2387600"/>
          </a:xfrm>
        </p:spPr>
        <p:txBody>
          <a:bodyPr/>
          <a:lstStyle/>
          <a:p>
            <a:r>
              <a:rPr lang="ru-RU" dirty="0" err="1"/>
              <a:t>Javadoc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86315" y="5203243"/>
            <a:ext cx="10058400" cy="1143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Calibri Light"/>
                <a:cs typeface="Calibri Light"/>
              </a:rPr>
              <a:t>Гордеев роман</a:t>
            </a:r>
          </a:p>
          <a:p>
            <a:r>
              <a:rPr lang="ru-RU" dirty="0">
                <a:ea typeface="Calibri Light"/>
                <a:cs typeface="Calibri Light"/>
              </a:rPr>
              <a:t>Зинов </a:t>
            </a:r>
            <a:r>
              <a:rPr lang="ru-RU" dirty="0" err="1">
                <a:ea typeface="Calibri Light"/>
                <a:cs typeface="Calibri Light"/>
              </a:rPr>
              <a:t>константин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4D3CC5-A687-91F0-16F0-E5315630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solidFill>
                  <a:schemeClr val="tx1"/>
                </a:solidFill>
              </a:rPr>
              <a:t>Что такое </a:t>
            </a:r>
            <a:r>
              <a:rPr lang="ru-RU" sz="4000" b="1" dirty="0" err="1">
                <a:solidFill>
                  <a:schemeClr val="tx1"/>
                </a:solidFill>
              </a:rPr>
              <a:t>Javadoc</a:t>
            </a:r>
            <a:r>
              <a:rPr lang="ru-RU" sz="4000" b="1" dirty="0">
                <a:solidFill>
                  <a:schemeClr val="tx1"/>
                </a:solidFill>
              </a:rPr>
              <a:t> и зачем он нужен</a:t>
            </a:r>
            <a:endParaRPr lang="ru-RU" sz="4000" dirty="0">
              <a:solidFill>
                <a:schemeClr val="tx1"/>
              </a:solidFill>
              <a:ea typeface="Calibri Light"/>
              <a:cs typeface="Calibri Light"/>
            </a:endParaRPr>
          </a:p>
          <a:p>
            <a:endParaRPr lang="ru-RU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49A0B7-7E97-96DB-7FCF-38AD25CE2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091" y="1414413"/>
            <a:ext cx="10446588" cy="478536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ru-RU" err="1">
                <a:solidFill>
                  <a:schemeClr val="tx1"/>
                </a:solidFill>
                <a:ea typeface="+mn-lt"/>
                <a:cs typeface="+mn-lt"/>
              </a:rPr>
              <a:t>Javadoc</a:t>
            </a:r>
            <a:r>
              <a:rPr lang="ru-RU" dirty="0">
                <a:solidFill>
                  <a:schemeClr val="tx1"/>
                </a:solidFill>
                <a:ea typeface="+mn-lt"/>
                <a:cs typeface="+mn-lt"/>
              </a:rPr>
              <a:t> — это </a:t>
            </a:r>
            <a:r>
              <a:rPr lang="ru-RU" b="1" dirty="0">
                <a:solidFill>
                  <a:schemeClr val="tx1"/>
                </a:solidFill>
                <a:ea typeface="+mn-lt"/>
                <a:cs typeface="+mn-lt"/>
              </a:rPr>
              <a:t>стандартизированная система документирования</a:t>
            </a:r>
            <a:r>
              <a:rPr lang="ru-RU" dirty="0">
                <a:solidFill>
                  <a:schemeClr val="tx1"/>
                </a:solidFill>
                <a:ea typeface="+mn-lt"/>
                <a:cs typeface="+mn-lt"/>
              </a:rPr>
              <a:t> Java-кода, которая позволяет создавать подробную API-документацию непосредственно из специальных комментариев в исходном коде.</a:t>
            </a:r>
          </a:p>
          <a:p>
            <a:r>
              <a:rPr lang="ru-RU" sz="1800" b="1" dirty="0">
                <a:solidFill>
                  <a:schemeClr val="tx1"/>
                </a:solidFill>
                <a:ea typeface="+mn-lt"/>
                <a:cs typeface="+mn-lt"/>
              </a:rPr>
              <a:t>Ключевые характеристики:</a:t>
            </a:r>
            <a:endParaRPr lang="ru-RU" sz="18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Встроена в JDK (Java Development Kit)</a:t>
            </a:r>
            <a:endParaRPr lang="ru-RU" sz="18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Использует специальный синтаксис комментариев</a:t>
            </a:r>
            <a:endParaRPr lang="ru-RU" sz="18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Автоматически генерирует HTML-документацию</a:t>
            </a:r>
            <a:endParaRPr lang="ru-RU" sz="18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Интегрирована со всеми современными IDE</a:t>
            </a:r>
            <a:endParaRPr lang="ru-RU" sz="18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800" err="1">
                <a:solidFill>
                  <a:schemeClr val="tx1"/>
                </a:solidFill>
                <a:ea typeface="+mn-lt"/>
                <a:cs typeface="+mn-lt"/>
              </a:rPr>
              <a:t>Javadoc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 решает задачу третьего уровня, создавая "мостик понимания" между автором кода и его будущими читателями.</a:t>
            </a:r>
            <a:endParaRPr lang="ru-RU" sz="1800">
              <a:solidFill>
                <a:schemeClr val="tx1"/>
              </a:solidFill>
              <a:ea typeface="Calibri"/>
              <a:cs typeface="Calibri"/>
            </a:endParaRPr>
          </a:p>
          <a:p>
            <a:endParaRPr lang="ru-RU" dirty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5197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7D818-55C8-B73F-41C7-3604E1DDB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638" y="-403510"/>
            <a:ext cx="10058400" cy="1450757"/>
          </a:xfrm>
        </p:spPr>
        <p:txBody>
          <a:bodyPr/>
          <a:lstStyle/>
          <a:p>
            <a:r>
              <a:rPr lang="ru-RU" sz="4000" b="1" dirty="0">
                <a:solidFill>
                  <a:schemeClr val="tx1"/>
                </a:solidFill>
              </a:rPr>
              <a:t>Синтаксис и структура </a:t>
            </a:r>
            <a:r>
              <a:rPr lang="ru-RU" sz="4000" b="1" dirty="0" err="1">
                <a:solidFill>
                  <a:schemeClr val="tx1"/>
                </a:solidFill>
              </a:rPr>
              <a:t>Javadoc</a:t>
            </a:r>
            <a:endParaRPr lang="ru-RU" sz="4000" dirty="0" err="1">
              <a:solidFill>
                <a:schemeClr val="tx1"/>
              </a:solidFill>
              <a:ea typeface="Calibri Light"/>
              <a:cs typeface="Calibri Ligh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8C3519-8800-5D12-26DC-AFB3DD456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507" y="1098111"/>
            <a:ext cx="5270740" cy="5254254"/>
          </a:xfrm>
        </p:spPr>
        <p:txBody>
          <a:bodyPr vert="horz" lIns="0" tIns="45720" rIns="0" bIns="45720" rtlCol="0" anchor="t">
            <a:noAutofit/>
          </a:bodyPr>
          <a:lstStyle/>
          <a:p>
            <a:endParaRPr lang="ru-RU" sz="1800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ru-RU" sz="1600" dirty="0">
                <a:solidFill>
                  <a:schemeClr val="tx1"/>
                </a:solidFill>
                <a:ea typeface="+mn-lt"/>
                <a:cs typeface="+mn-lt"/>
              </a:rPr>
              <a:t>Начинается с </a:t>
            </a:r>
            <a:r>
              <a:rPr lang="ru-RU" sz="16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/**</a:t>
            </a:r>
            <a:r>
              <a:rPr lang="ru-RU" sz="1600" dirty="0">
                <a:solidFill>
                  <a:schemeClr val="tx1"/>
                </a:solidFill>
                <a:ea typeface="+mn-lt"/>
                <a:cs typeface="+mn-lt"/>
              </a:rPr>
              <a:t> (две звездочки)</a:t>
            </a:r>
            <a:endParaRPr lang="ru-RU" sz="16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600" dirty="0">
                <a:solidFill>
                  <a:schemeClr val="tx1"/>
                </a:solidFill>
                <a:ea typeface="+mn-lt"/>
                <a:cs typeface="+mn-lt"/>
              </a:rPr>
              <a:t>Заканчивается </a:t>
            </a:r>
            <a:r>
              <a:rPr lang="ru-RU" sz="16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*/</a:t>
            </a:r>
            <a:endParaRPr lang="ru-RU" sz="16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600" dirty="0">
                <a:solidFill>
                  <a:schemeClr val="tx1"/>
                </a:solidFill>
                <a:ea typeface="+mn-lt"/>
                <a:cs typeface="+mn-lt"/>
              </a:rPr>
              <a:t>Каждая строка обычно начинается с </a:t>
            </a:r>
            <a:r>
              <a:rPr lang="ru-RU" sz="16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*</a:t>
            </a:r>
            <a:endParaRPr lang="ru-RU" sz="16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600" dirty="0">
                <a:solidFill>
                  <a:schemeClr val="tx1"/>
                </a:solidFill>
                <a:ea typeface="+mn-lt"/>
                <a:cs typeface="+mn-lt"/>
              </a:rPr>
              <a:t>Первое предложение — краткое описание (используется в сводках)</a:t>
            </a:r>
            <a:endParaRPr lang="ru-RU" sz="16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600" dirty="0">
                <a:solidFill>
                  <a:schemeClr val="tx1"/>
                </a:solidFill>
                <a:ea typeface="+mn-lt"/>
                <a:cs typeface="+mn-lt"/>
              </a:rPr>
              <a:t>Далее — подробное описание</a:t>
            </a:r>
            <a:endParaRPr lang="ru-RU" sz="1200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endParaRPr lang="ru-RU" sz="1800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ru-RU" sz="1800" b="1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D643318-9717-9ECE-9785-4F5199286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05" y="3931040"/>
            <a:ext cx="3731463" cy="24177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74999E-F0A2-1342-C4FB-62F02CD29AE3}"/>
              </a:ext>
            </a:extLst>
          </p:cNvPr>
          <p:cNvSpPr txBox="1"/>
          <p:nvPr/>
        </p:nvSpPr>
        <p:spPr>
          <a:xfrm>
            <a:off x="5753100" y="1511300"/>
            <a:ext cx="6235699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b="1"/>
              <a:t>Мета-информация</a:t>
            </a:r>
            <a:endParaRPr lang="ru-RU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1600">
                <a:latin typeface="Consolas"/>
              </a:rPr>
              <a:t>@author Имя</a:t>
            </a:r>
            <a:r>
              <a:rPr lang="ru-RU" sz="1600">
                <a:ea typeface="+mn-lt"/>
                <a:cs typeface="+mn-lt"/>
              </a:rPr>
              <a:t> — автор класса/метода</a:t>
            </a:r>
            <a:endParaRPr lang="ru-RU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1600">
                <a:latin typeface="Consolas"/>
              </a:rPr>
              <a:t>@version Версия</a:t>
            </a:r>
            <a:r>
              <a:rPr lang="ru-RU" sz="1600">
                <a:ea typeface="+mn-lt"/>
                <a:cs typeface="+mn-lt"/>
              </a:rPr>
              <a:t> — версия элемента</a:t>
            </a:r>
            <a:endParaRPr lang="ru-RU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1600">
                <a:latin typeface="Consolas"/>
              </a:rPr>
              <a:t>@since Версия</a:t>
            </a:r>
            <a:r>
              <a:rPr lang="ru-RU" sz="1600">
                <a:ea typeface="+mn-lt"/>
                <a:cs typeface="+mn-lt"/>
              </a:rPr>
              <a:t> — когда элемент появился</a:t>
            </a:r>
            <a:endParaRPr lang="ru-RU" sz="2400" dirty="0">
              <a:ea typeface="Calibri"/>
              <a:cs typeface="Calibri"/>
            </a:endParaRPr>
          </a:p>
          <a:p>
            <a:r>
              <a:rPr lang="ru-RU" sz="1600" b="1"/>
              <a:t>Описание параметров и возвращаемых значений</a:t>
            </a:r>
            <a:endParaRPr lang="ru-RU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1600">
                <a:latin typeface="Consolas"/>
              </a:rPr>
              <a:t>@param имя описание</a:t>
            </a:r>
            <a:r>
              <a:rPr lang="ru-RU" sz="1600">
                <a:ea typeface="+mn-lt"/>
                <a:cs typeface="+mn-lt"/>
              </a:rPr>
              <a:t> — описание параметра метода</a:t>
            </a:r>
            <a:endParaRPr lang="ru-RU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1600">
                <a:latin typeface="Consolas"/>
              </a:rPr>
              <a:t>@return описание</a:t>
            </a:r>
            <a:r>
              <a:rPr lang="ru-RU" sz="1600">
                <a:ea typeface="+mn-lt"/>
                <a:cs typeface="+mn-lt"/>
              </a:rPr>
              <a:t> — описание возвращаемого значения</a:t>
            </a:r>
            <a:endParaRPr lang="ru-RU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1600">
                <a:latin typeface="Consolas"/>
              </a:rPr>
              <a:t>@throws/exception </a:t>
            </a:r>
            <a:r>
              <a:rPr lang="ru-RU" sz="1600" err="1">
                <a:latin typeface="Consolas"/>
              </a:rPr>
              <a:t>КлассИсключения</a:t>
            </a:r>
            <a:r>
              <a:rPr lang="ru-RU" sz="1600">
                <a:latin typeface="Consolas"/>
              </a:rPr>
              <a:t> условие</a:t>
            </a:r>
            <a:r>
              <a:rPr lang="ru-RU" sz="1600">
                <a:ea typeface="+mn-lt"/>
                <a:cs typeface="+mn-lt"/>
              </a:rPr>
              <a:t> — условия возникновения исключения</a:t>
            </a:r>
            <a:endParaRPr lang="ru-RU" sz="2400" dirty="0">
              <a:ea typeface="Calibri"/>
              <a:cs typeface="Calibri"/>
            </a:endParaRPr>
          </a:p>
          <a:p>
            <a:r>
              <a:rPr lang="ru-RU" sz="1600" b="1"/>
              <a:t>Ссылки и связи</a:t>
            </a:r>
            <a:endParaRPr lang="ru-RU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1600" dirty="0">
                <a:latin typeface="Consolas"/>
              </a:rPr>
              <a:t>@see ссылка</a:t>
            </a:r>
            <a:r>
              <a:rPr lang="ru-RU" sz="1600" dirty="0">
                <a:ea typeface="+mn-lt"/>
                <a:cs typeface="+mn-lt"/>
              </a:rPr>
              <a:t> — ссылка на связанную сущность</a:t>
            </a:r>
            <a:endParaRPr lang="ru-RU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1600" dirty="0">
                <a:latin typeface="Consolas"/>
              </a:rPr>
              <a:t>{@link </a:t>
            </a:r>
            <a:r>
              <a:rPr lang="ru-RU" sz="1600" err="1">
                <a:latin typeface="Consolas"/>
              </a:rPr>
              <a:t>пакет.класс#метод</a:t>
            </a:r>
            <a:r>
              <a:rPr lang="ru-RU" sz="1600" dirty="0">
                <a:latin typeface="Consolas"/>
              </a:rPr>
              <a:t> текст}</a:t>
            </a:r>
            <a:r>
              <a:rPr lang="ru-RU" sz="1600" dirty="0">
                <a:ea typeface="+mn-lt"/>
                <a:cs typeface="+mn-lt"/>
              </a:rPr>
              <a:t> — встроенная гиперссылка</a:t>
            </a:r>
            <a:endParaRPr lang="ru-RU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1600" dirty="0">
                <a:latin typeface="Consolas"/>
              </a:rPr>
              <a:t>@deprecated объяснение</a:t>
            </a:r>
            <a:r>
              <a:rPr lang="ru-RU" sz="1600" dirty="0">
                <a:ea typeface="+mn-lt"/>
                <a:cs typeface="+mn-lt"/>
              </a:rPr>
              <a:t> — пометка устаревшего элемента</a:t>
            </a:r>
            <a:endParaRPr lang="ru-RU" sz="2400" dirty="0">
              <a:ea typeface="Calibri"/>
              <a:cs typeface="Calibri"/>
            </a:endParaRPr>
          </a:p>
          <a:p>
            <a:r>
              <a:rPr lang="ru-RU" sz="1600" b="1" dirty="0"/>
              <a:t>Дополнительные теги</a:t>
            </a:r>
            <a:endParaRPr lang="ru-RU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1600" dirty="0">
                <a:latin typeface="Consolas"/>
              </a:rPr>
              <a:t>{@code код}</a:t>
            </a:r>
            <a:r>
              <a:rPr lang="ru-RU" sz="1600" dirty="0">
                <a:ea typeface="+mn-lt"/>
                <a:cs typeface="+mn-lt"/>
              </a:rPr>
              <a:t> — отображение кода без интерпретации HTML</a:t>
            </a:r>
            <a:endParaRPr lang="ru-RU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1600" dirty="0">
                <a:latin typeface="Consolas"/>
              </a:rPr>
              <a:t>{@literal текст}</a:t>
            </a:r>
            <a:r>
              <a:rPr lang="ru-RU" sz="1600" dirty="0">
                <a:ea typeface="+mn-lt"/>
                <a:cs typeface="+mn-lt"/>
              </a:rPr>
              <a:t> — текст без интерпретации HTML</a:t>
            </a:r>
            <a:endParaRPr lang="ru-RU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1600" dirty="0">
                <a:latin typeface="Consolas"/>
              </a:rPr>
              <a:t>{@value ссылка}</a:t>
            </a:r>
            <a:r>
              <a:rPr lang="ru-RU" sz="1600" dirty="0">
                <a:ea typeface="+mn-lt"/>
                <a:cs typeface="+mn-lt"/>
              </a:rPr>
              <a:t> — значение статического поля</a:t>
            </a:r>
            <a:endParaRPr lang="ru-RU" sz="2400" dirty="0">
              <a:ea typeface="Calibri"/>
              <a:cs typeface="Calibri"/>
            </a:endParaRPr>
          </a:p>
          <a:p>
            <a:pPr algn="l"/>
            <a:endParaRPr lang="ru-RU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8298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6A3187-7CFE-78C7-3829-FDC51991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dirty="0">
                <a:solidFill>
                  <a:schemeClr val="tx1"/>
                </a:solidFill>
              </a:rPr>
              <a:t>HTML в </a:t>
            </a:r>
            <a:r>
              <a:rPr lang="ru-RU" sz="3600" b="1" dirty="0" err="1">
                <a:solidFill>
                  <a:schemeClr val="tx1"/>
                </a:solidFill>
              </a:rPr>
              <a:t>Javadoc</a:t>
            </a:r>
            <a:endParaRPr lang="ru-RU" sz="3600" dirty="0" err="1">
              <a:solidFill>
                <a:schemeClr val="tx1"/>
              </a:solidFill>
              <a:ea typeface="Calibri Light"/>
              <a:cs typeface="Calibri Ligh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920902-490C-6A9C-0272-B2EFBA92B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224" y="2032639"/>
            <a:ext cx="10058400" cy="402336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Внутри </a:t>
            </a:r>
            <a:r>
              <a:rPr lang="ru-RU" sz="1800" err="1">
                <a:solidFill>
                  <a:schemeClr val="tx1"/>
                </a:solidFill>
                <a:ea typeface="+mn-lt"/>
                <a:cs typeface="+mn-lt"/>
              </a:rPr>
              <a:t>Javadoc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 можно использовать ограниченное подмножество HTML:</a:t>
            </a:r>
            <a:endParaRPr lang="ru-RU" sz="180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ru-RU" sz="1800" b="1">
                <a:solidFill>
                  <a:schemeClr val="tx1"/>
                </a:solidFill>
                <a:ea typeface="+mn-lt"/>
                <a:cs typeface="+mn-lt"/>
              </a:rPr>
              <a:t>Разрешенные теги:</a:t>
            </a:r>
            <a:endParaRPr lang="ru-RU" sz="18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Форматирование: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&lt;b&gt;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,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&lt;i&gt;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,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code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&gt;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,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em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&gt;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,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strong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&gt;</a:t>
            </a:r>
            <a:endParaRPr lang="ru-RU" sz="18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Структура: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&lt;p&gt;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,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pre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&gt;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,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blockquote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&gt;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,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ul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&gt;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,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ol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&gt;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,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li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&gt;</a:t>
            </a:r>
            <a:endParaRPr lang="ru-RU" sz="18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Заголовки: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&lt;h1&gt;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-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&lt;h6&gt;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 (с осторожностью)</a:t>
            </a:r>
            <a:endParaRPr lang="ru-RU" sz="18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Изображения: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img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 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src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="путь" 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alt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="описание"&gt;</a:t>
            </a:r>
            <a:endParaRPr lang="ru-RU" sz="18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800" b="1" dirty="0">
                <a:solidFill>
                  <a:schemeClr val="tx1"/>
                </a:solidFill>
                <a:ea typeface="+mn-lt"/>
                <a:cs typeface="+mn-lt"/>
              </a:rPr>
              <a:t>Запрещенные теги:</a:t>
            </a:r>
            <a:endParaRPr lang="ru-RU" sz="18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800" dirty="0">
                <a:solidFill>
                  <a:schemeClr val="tx1"/>
                </a:solidFill>
                <a:latin typeface="Consolas"/>
              </a:rPr>
              <a:t>&lt;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script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&gt;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,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style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&gt;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,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iframe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&gt;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, 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&lt;</a:t>
            </a:r>
            <a:r>
              <a:rPr lang="ru-RU" sz="1800" err="1">
                <a:solidFill>
                  <a:schemeClr val="tx1"/>
                </a:solidFill>
                <a:latin typeface="Consolas"/>
              </a:rPr>
              <a:t>form</a:t>
            </a:r>
            <a:r>
              <a:rPr lang="ru-RU" sz="1800" dirty="0">
                <a:solidFill>
                  <a:schemeClr val="tx1"/>
                </a:solidFill>
                <a:latin typeface="Consolas"/>
              </a:rPr>
              <a:t>&gt;</a:t>
            </a:r>
            <a:endParaRPr lang="ru-RU" sz="18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Любые теги, изменяющие структуру страницы</a:t>
            </a:r>
            <a:endParaRPr lang="ru-RU" sz="1800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ru-RU" sz="3200" dirty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092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24C7FA-250A-89A4-CC4E-68FFDBB6E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Calibri Light"/>
                <a:cs typeface="Calibri Light"/>
              </a:rPr>
              <a:t>Генерация </a:t>
            </a:r>
            <a:r>
              <a:rPr lang="ru-RU" dirty="0" err="1">
                <a:ea typeface="Calibri Light"/>
                <a:cs typeface="Calibri Light"/>
              </a:rPr>
              <a:t>javadoc</a:t>
            </a:r>
            <a:r>
              <a:rPr lang="ru-RU" dirty="0">
                <a:ea typeface="Calibri Light"/>
                <a:cs typeface="Calibri Light"/>
              </a:rPr>
              <a:t> в терминале</a:t>
            </a:r>
            <a:endParaRPr lang="ru-RU" dirty="0" err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34B31C-95BD-C471-82D3-C13B730EA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714" y="1845734"/>
            <a:ext cx="10058400" cy="4023360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ru-RU" sz="2300" dirty="0" err="1">
                <a:solidFill>
                  <a:schemeClr val="tx1"/>
                </a:solidFill>
                <a:ea typeface="+mn-lt"/>
                <a:cs typeface="+mn-lt"/>
              </a:rPr>
              <a:t>javadoc</a:t>
            </a:r>
            <a:r>
              <a:rPr lang="ru-RU" sz="2300" dirty="0">
                <a:solidFill>
                  <a:schemeClr val="tx1"/>
                </a:solidFill>
                <a:ea typeface="+mn-lt"/>
                <a:cs typeface="+mn-lt"/>
              </a:rPr>
              <a:t> [опции] [</a:t>
            </a:r>
            <a:r>
              <a:rPr lang="ru-RU" sz="2300" dirty="0" err="1">
                <a:solidFill>
                  <a:schemeClr val="tx1"/>
                </a:solidFill>
                <a:ea typeface="+mn-lt"/>
                <a:cs typeface="+mn-lt"/>
              </a:rPr>
              <a:t>имена_пакетов</a:t>
            </a:r>
            <a:r>
              <a:rPr lang="ru-RU" sz="2300" dirty="0">
                <a:solidFill>
                  <a:schemeClr val="tx1"/>
                </a:solidFill>
                <a:ea typeface="+mn-lt"/>
                <a:cs typeface="+mn-lt"/>
              </a:rPr>
              <a:t>] [</a:t>
            </a:r>
            <a:r>
              <a:rPr lang="ru-RU" sz="2300" dirty="0" err="1">
                <a:solidFill>
                  <a:schemeClr val="tx1"/>
                </a:solidFill>
                <a:ea typeface="+mn-lt"/>
                <a:cs typeface="+mn-lt"/>
              </a:rPr>
              <a:t>имена_файлов</a:t>
            </a:r>
            <a:r>
              <a:rPr lang="ru-RU" sz="2300" dirty="0">
                <a:solidFill>
                  <a:schemeClr val="tx1"/>
                </a:solidFill>
                <a:ea typeface="+mn-lt"/>
                <a:cs typeface="+mn-lt"/>
              </a:rPr>
              <a:t>] [@список_файлов]</a:t>
            </a:r>
            <a:endParaRPr lang="ru-RU" sz="2300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ru-RU" sz="2300" b="1" dirty="0">
                <a:solidFill>
                  <a:schemeClr val="tx1"/>
                </a:solidFill>
              </a:rPr>
              <a:t>Ключевые опции</a:t>
            </a:r>
            <a:endParaRPr lang="ru-RU" sz="23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500" b="1" dirty="0">
                <a:solidFill>
                  <a:schemeClr val="tx1"/>
                </a:solidFill>
              </a:rPr>
              <a:t>Уровень доступа:</a:t>
            </a:r>
            <a:endParaRPr lang="ru-RU" sz="15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5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-</a:t>
            </a:r>
            <a:r>
              <a:rPr lang="ru-RU" sz="1500" err="1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public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 — только публичные элементы</a:t>
            </a:r>
            <a:endParaRPr lang="ru-RU" sz="15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5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-</a:t>
            </a:r>
            <a:r>
              <a:rPr lang="ru-RU" sz="1500" err="1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protected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 — </a:t>
            </a:r>
            <a:r>
              <a:rPr lang="ru-RU" sz="1500" err="1">
                <a:solidFill>
                  <a:schemeClr val="tx1"/>
                </a:solidFill>
                <a:ea typeface="+mn-lt"/>
                <a:cs typeface="+mn-lt"/>
              </a:rPr>
              <a:t>protected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 и публичные (по умолчанию)</a:t>
            </a:r>
            <a:endParaRPr lang="ru-RU" sz="15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5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-</a:t>
            </a:r>
            <a:r>
              <a:rPr lang="ru-RU" sz="1500" err="1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package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 — </a:t>
            </a:r>
            <a:r>
              <a:rPr lang="ru-RU" sz="1500" err="1">
                <a:solidFill>
                  <a:schemeClr val="tx1"/>
                </a:solidFill>
                <a:ea typeface="+mn-lt"/>
                <a:cs typeface="+mn-lt"/>
              </a:rPr>
              <a:t>package-private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ru-RU" sz="1500" err="1">
                <a:solidFill>
                  <a:schemeClr val="tx1"/>
                </a:solidFill>
                <a:ea typeface="+mn-lt"/>
                <a:cs typeface="+mn-lt"/>
              </a:rPr>
              <a:t>protected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 и публичные</a:t>
            </a:r>
            <a:endParaRPr lang="ru-RU" sz="15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5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-</a:t>
            </a:r>
            <a:r>
              <a:rPr lang="ru-RU" sz="1500" err="1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private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 — все элементы, включая </a:t>
            </a:r>
            <a:r>
              <a:rPr lang="ru-RU" sz="1500" err="1">
                <a:solidFill>
                  <a:schemeClr val="tx1"/>
                </a:solidFill>
                <a:ea typeface="+mn-lt"/>
                <a:cs typeface="+mn-lt"/>
              </a:rPr>
              <a:t>private</a:t>
            </a:r>
            <a:endParaRPr lang="ru-RU" sz="15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500" b="1" dirty="0">
                <a:solidFill>
                  <a:schemeClr val="tx1"/>
                </a:solidFill>
              </a:rPr>
              <a:t>Отображение тегов:</a:t>
            </a:r>
            <a:endParaRPr lang="ru-RU" sz="15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5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-</a:t>
            </a:r>
            <a:r>
              <a:rPr lang="ru-RU" sz="1500" err="1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author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 — показывать тег </a:t>
            </a:r>
            <a:r>
              <a:rPr lang="ru-RU" sz="15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@author</a:t>
            </a:r>
            <a:endParaRPr lang="ru-RU" sz="15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5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-</a:t>
            </a:r>
            <a:r>
              <a:rPr lang="ru-RU" sz="1500" err="1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version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 — показывать тег </a:t>
            </a:r>
            <a:r>
              <a:rPr lang="ru-RU" sz="15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@version</a:t>
            </a:r>
            <a:endParaRPr lang="ru-RU" sz="15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500" dirty="0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-</a:t>
            </a:r>
            <a:r>
              <a:rPr lang="ru-RU" sz="1500" err="1">
                <a:solidFill>
                  <a:schemeClr val="tx1"/>
                </a:solidFill>
                <a:latin typeface="Consolas"/>
                <a:ea typeface="Calibri"/>
                <a:cs typeface="Calibri"/>
              </a:rPr>
              <a:t>use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 — создавать страницу использования</a:t>
            </a:r>
            <a:endParaRPr lang="ru-RU" sz="1500">
              <a:solidFill>
                <a:schemeClr val="tx1"/>
              </a:solidFill>
              <a:ea typeface="Calibri"/>
              <a:cs typeface="Calibri"/>
            </a:endParaRPr>
          </a:p>
          <a:p>
            <a:endParaRPr lang="ru-RU" sz="1500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ru-RU" sz="29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AB3AD-14FE-8A83-3D21-A63A0584C8BF}"/>
              </a:ext>
            </a:extLst>
          </p:cNvPr>
          <p:cNvSpPr txBox="1"/>
          <p:nvPr/>
        </p:nvSpPr>
        <p:spPr>
          <a:xfrm>
            <a:off x="6708412" y="2575164"/>
            <a:ext cx="4847368" cy="25535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Font typeface="Arial"/>
              <a:buChar char="•"/>
            </a:pPr>
            <a:r>
              <a:rPr lang="ru-RU" sz="1500" b="1" dirty="0">
                <a:ea typeface="Calibri"/>
                <a:cs typeface="Calibri"/>
              </a:rPr>
              <a:t>Пути и выход:</a:t>
            </a:r>
            <a:endParaRPr lang="ru-RU" sz="15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Font typeface="Arial"/>
              <a:buChar char="•"/>
            </a:pPr>
            <a:r>
              <a:rPr lang="ru-RU" sz="1500" dirty="0">
                <a:latin typeface="Consolas"/>
                <a:ea typeface="Calibri"/>
                <a:cs typeface="Calibri"/>
              </a:rPr>
              <a:t>-d каталог</a:t>
            </a:r>
            <a:r>
              <a:rPr lang="ru-RU" sz="1500" dirty="0">
                <a:ea typeface="Calibri"/>
                <a:cs typeface="Calibri"/>
              </a:rPr>
              <a:t> — директория для выходных файлов</a:t>
            </a:r>
          </a:p>
          <a:p>
            <a:pPr marL="285750" indent="-28575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Font typeface="Arial"/>
              <a:buChar char="•"/>
            </a:pPr>
            <a:r>
              <a:rPr lang="ru-RU" sz="1500" dirty="0">
                <a:latin typeface="Consolas"/>
                <a:ea typeface="Calibri"/>
                <a:cs typeface="Calibri"/>
              </a:rPr>
              <a:t>-</a:t>
            </a:r>
            <a:r>
              <a:rPr lang="ru-RU" sz="1500" dirty="0" err="1">
                <a:latin typeface="Consolas"/>
                <a:ea typeface="Calibri"/>
                <a:cs typeface="Calibri"/>
              </a:rPr>
              <a:t>sourcepath</a:t>
            </a:r>
            <a:r>
              <a:rPr lang="ru-RU" sz="1500" dirty="0">
                <a:latin typeface="Consolas"/>
                <a:ea typeface="Calibri"/>
                <a:cs typeface="Calibri"/>
              </a:rPr>
              <a:t> путь</a:t>
            </a:r>
            <a:r>
              <a:rPr lang="ru-RU" sz="1500" dirty="0">
                <a:ea typeface="Calibri"/>
                <a:cs typeface="Calibri"/>
              </a:rPr>
              <a:t> — путь к исходным кодам</a:t>
            </a:r>
          </a:p>
          <a:p>
            <a:pPr marL="285750" indent="-28575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Font typeface="Arial"/>
              <a:buChar char="•"/>
            </a:pPr>
            <a:r>
              <a:rPr lang="ru-RU" sz="1500" dirty="0">
                <a:latin typeface="Consolas"/>
                <a:ea typeface="Calibri"/>
                <a:cs typeface="Calibri"/>
              </a:rPr>
              <a:t>-</a:t>
            </a:r>
            <a:r>
              <a:rPr lang="ru-RU" sz="1500" dirty="0" err="1">
                <a:latin typeface="Consolas"/>
                <a:ea typeface="Calibri"/>
                <a:cs typeface="Calibri"/>
              </a:rPr>
              <a:t>subpackages</a:t>
            </a:r>
            <a:r>
              <a:rPr lang="ru-RU" sz="1500" dirty="0">
                <a:latin typeface="Consolas"/>
                <a:ea typeface="Calibri"/>
                <a:cs typeface="Calibri"/>
              </a:rPr>
              <a:t> пакет</a:t>
            </a:r>
            <a:r>
              <a:rPr lang="ru-RU" sz="1500" dirty="0">
                <a:ea typeface="Calibri"/>
                <a:cs typeface="Calibri"/>
              </a:rPr>
              <a:t> — рекурсивная обработка </a:t>
            </a:r>
            <a:r>
              <a:rPr lang="ru-RU" sz="1500" dirty="0" err="1">
                <a:ea typeface="Calibri"/>
                <a:cs typeface="Calibri"/>
              </a:rPr>
              <a:t>подпакетов</a:t>
            </a:r>
          </a:p>
          <a:p>
            <a:pPr marL="285750" indent="-28575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Font typeface="Arial"/>
              <a:buChar char="•"/>
            </a:pPr>
            <a:endParaRPr lang="ru-RU" sz="2900" dirty="0">
              <a:ea typeface="Calibri"/>
              <a:cs typeface="Calibri"/>
            </a:endParaRPr>
          </a:p>
          <a:p>
            <a:pPr algn="l"/>
            <a:endParaRPr lang="ru-RU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7470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7AFE89-DC0C-59A7-885F-722FB459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412" y="257848"/>
            <a:ext cx="10058400" cy="1450757"/>
          </a:xfrm>
        </p:spPr>
        <p:txBody>
          <a:bodyPr/>
          <a:lstStyle/>
          <a:p>
            <a:r>
              <a:rPr lang="ru-RU" dirty="0">
                <a:ea typeface="Calibri Light"/>
                <a:cs typeface="Calibri Light"/>
              </a:rPr>
              <a:t>Документация пакетов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2D05A0-93E5-8821-DFA1-D4E6B524F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808" y="983093"/>
            <a:ext cx="10058400" cy="4023360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/**</a:t>
            </a:r>
            <a:endParaRPr lang="ru-RU" sz="1400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* Пакет содержит классы для работы с пользователями.</a:t>
            </a:r>
            <a:endParaRPr lang="ru-RU" sz="14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* </a:t>
            </a:r>
            <a:endParaRPr lang="ru-RU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* &lt;p&gt;Основные возможности:&lt;/p&gt;</a:t>
            </a:r>
            <a:endParaRPr lang="ru-RU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* &lt;</a:t>
            </a:r>
            <a:r>
              <a:rPr lang="ru-RU" sz="1400" err="1">
                <a:solidFill>
                  <a:schemeClr val="tx1"/>
                </a:solidFill>
                <a:ea typeface="+mn-lt"/>
                <a:cs typeface="+mn-lt"/>
              </a:rPr>
              <a:t>ul</a:t>
            </a:r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&gt;</a:t>
            </a:r>
            <a:endParaRPr lang="ru-RU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*   &lt;</a:t>
            </a:r>
            <a:r>
              <a:rPr lang="ru-RU" sz="1400" err="1">
                <a:solidFill>
                  <a:schemeClr val="tx1"/>
                </a:solidFill>
                <a:ea typeface="+mn-lt"/>
                <a:cs typeface="+mn-lt"/>
              </a:rPr>
              <a:t>li</a:t>
            </a:r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&gt;Создание пользователей&lt;/</a:t>
            </a:r>
            <a:r>
              <a:rPr lang="ru-RU" sz="1400" err="1">
                <a:solidFill>
                  <a:schemeClr val="tx1"/>
                </a:solidFill>
                <a:ea typeface="+mn-lt"/>
                <a:cs typeface="+mn-lt"/>
              </a:rPr>
              <a:t>li</a:t>
            </a:r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&gt;</a:t>
            </a:r>
            <a:endParaRPr lang="ru-RU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*   &lt;</a:t>
            </a:r>
            <a:r>
              <a:rPr lang="ru-RU" sz="1400" err="1">
                <a:solidFill>
                  <a:schemeClr val="tx1"/>
                </a:solidFill>
                <a:ea typeface="+mn-lt"/>
                <a:cs typeface="+mn-lt"/>
              </a:rPr>
              <a:t>li</a:t>
            </a:r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&gt;Аутентификация&lt;/</a:t>
            </a:r>
            <a:r>
              <a:rPr lang="ru-RU" sz="1400" err="1">
                <a:solidFill>
                  <a:schemeClr val="tx1"/>
                </a:solidFill>
                <a:ea typeface="+mn-lt"/>
                <a:cs typeface="+mn-lt"/>
              </a:rPr>
              <a:t>li</a:t>
            </a:r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&gt;</a:t>
            </a:r>
            <a:endParaRPr lang="ru-RU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*   &lt;</a:t>
            </a:r>
            <a:r>
              <a:rPr lang="ru-RU" sz="1400" err="1">
                <a:solidFill>
                  <a:schemeClr val="tx1"/>
                </a:solidFill>
                <a:ea typeface="+mn-lt"/>
                <a:cs typeface="+mn-lt"/>
              </a:rPr>
              <a:t>li</a:t>
            </a:r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&gt;Управление правами доступа&lt;/</a:t>
            </a:r>
            <a:r>
              <a:rPr lang="ru-RU" sz="1400" err="1">
                <a:solidFill>
                  <a:schemeClr val="tx1"/>
                </a:solidFill>
                <a:ea typeface="+mn-lt"/>
                <a:cs typeface="+mn-lt"/>
              </a:rPr>
              <a:t>li</a:t>
            </a:r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&gt;</a:t>
            </a:r>
            <a:endParaRPr lang="ru-RU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* &lt;/</a:t>
            </a:r>
            <a:r>
              <a:rPr lang="ru-RU" sz="1400" err="1">
                <a:solidFill>
                  <a:schemeClr val="tx1"/>
                </a:solidFill>
                <a:ea typeface="+mn-lt"/>
                <a:cs typeface="+mn-lt"/>
              </a:rPr>
              <a:t>ul</a:t>
            </a:r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&gt;</a:t>
            </a:r>
            <a:endParaRPr lang="ru-RU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* </a:t>
            </a:r>
            <a:endParaRPr lang="ru-RU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* @since 1.0</a:t>
            </a:r>
            <a:endParaRPr lang="ru-RU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* @author Команда разработки</a:t>
            </a:r>
            <a:endParaRPr lang="ru-RU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*/</a:t>
            </a:r>
            <a:endParaRPr lang="ru-RU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ru-RU" sz="1400" dirty="0" err="1">
                <a:solidFill>
                  <a:schemeClr val="tx1"/>
                </a:solidFill>
                <a:ea typeface="+mn-lt"/>
                <a:cs typeface="+mn-lt"/>
              </a:rPr>
              <a:t>package</a:t>
            </a:r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ru-RU" sz="1400" dirty="0" err="1">
                <a:solidFill>
                  <a:schemeClr val="tx1"/>
                </a:solidFill>
                <a:ea typeface="+mn-lt"/>
                <a:cs typeface="+mn-lt"/>
              </a:rPr>
              <a:t>example</a:t>
            </a:r>
            <a:r>
              <a:rPr lang="ru-RU" sz="1400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  <a:endParaRPr lang="ru-RU" sz="14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13724-7E57-DBDC-7FF6-EAAE2C9D4EA9}"/>
              </a:ext>
            </a:extLst>
          </p:cNvPr>
          <p:cNvSpPr txBox="1"/>
          <p:nvPr/>
        </p:nvSpPr>
        <p:spPr>
          <a:xfrm>
            <a:off x="5940070" y="3435882"/>
            <a:ext cx="58644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ea typeface="Calibri"/>
                <a:cs typeface="Calibri"/>
              </a:rPr>
              <a:t>Также можно документировать модули и создавать пользовательские теги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0078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8C2576-1C69-103D-4FC7-9FBD407FC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771" y="-432265"/>
            <a:ext cx="10058400" cy="1450757"/>
          </a:xfrm>
        </p:spPr>
        <p:txBody>
          <a:bodyPr/>
          <a:lstStyle/>
          <a:p>
            <a:r>
              <a:rPr lang="ru-RU" dirty="0">
                <a:ea typeface="Calibri Light"/>
                <a:cs typeface="Calibri Light"/>
              </a:rPr>
              <a:t>Пример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84290B-E1ED-EB96-C2CB-ED2E8C023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ru-RU" sz="1500" b="1" dirty="0">
                <a:solidFill>
                  <a:srgbClr val="F9FAFB"/>
                </a:solidFill>
              </a:rPr>
              <a:t>Структура проекта</a:t>
            </a:r>
            <a:endParaRPr lang="ru-RU" dirty="0">
              <a:ea typeface="Calibri"/>
              <a:cs typeface="Calibri"/>
            </a:endParaRPr>
          </a:p>
          <a:p>
            <a:endParaRPr lang="ru-RU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C9C27-373E-3426-2CCA-EE891D437A72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9FAFB"/>
                </a:solidFill>
                <a:latin typeface="quote-cjk-patch"/>
                <a:ea typeface="quote-cjk-patch"/>
                <a:cs typeface="quote-cjk-patch"/>
              </a:rPr>
              <a:t>Структура проекта</a:t>
            </a:r>
          </a:p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88193E-53B7-3118-BC0D-AF0F0336E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9" y="1019066"/>
            <a:ext cx="2523305" cy="5355280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156568C-450F-E2C6-9873-52C4E4F8E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322" y="296749"/>
            <a:ext cx="4288373" cy="6504317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46AD468-6CB9-0FEB-34F3-6784D6A61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590" y="299085"/>
            <a:ext cx="2781300" cy="2114550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24493D1-818F-E620-D350-C5D0C3B3F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002" y="2755265"/>
            <a:ext cx="3048635" cy="1337310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90332F-559A-41DE-E178-1DE87193BD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7035" y="4518025"/>
            <a:ext cx="3798570" cy="119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166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E7AB1-216B-0B9C-EB6F-8EEB8329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2123"/>
            <a:ext cx="10058400" cy="1450757"/>
          </a:xfrm>
        </p:spPr>
        <p:txBody>
          <a:bodyPr/>
          <a:lstStyle/>
          <a:p>
            <a:r>
              <a:rPr lang="ru-RU" dirty="0">
                <a:ea typeface="Calibri Light"/>
                <a:cs typeface="Calibri Light"/>
              </a:rPr>
              <a:t>Генерация </a:t>
            </a:r>
            <a:r>
              <a:rPr lang="ru-RU" dirty="0" err="1">
                <a:ea typeface="Calibri Light"/>
                <a:cs typeface="Calibri Light"/>
              </a:rPr>
              <a:t>javadoc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BED4A5-D12C-F9B9-6AA0-3E36F442F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8" y="1554162"/>
            <a:ext cx="11744325" cy="295275"/>
          </a:xfrm>
          <a:prstGeom prst="rect">
            <a:avLst/>
          </a:prstGeom>
        </p:spPr>
      </p:pic>
      <p:pic>
        <p:nvPicPr>
          <p:cNvPr id="8" name="Объект 7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2CFB17C-88C4-AE33-ED98-1577FB59C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0720" y="2266625"/>
            <a:ext cx="10474960" cy="362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13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7978B-9129-5B8A-1104-869D6C904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Calibri Light"/>
                <a:cs typeface="Calibri Light"/>
              </a:rPr>
              <a:t>Вывод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72D2E9-6C67-BF0C-D558-6AC1A30F8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463960"/>
            <a:ext cx="10058400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endParaRPr lang="ru-RU" sz="1800" b="1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ru-RU" sz="1800" b="1" dirty="0">
                <a:solidFill>
                  <a:schemeClr val="tx1"/>
                </a:solidFill>
                <a:ea typeface="+mn-lt"/>
                <a:cs typeface="+mn-lt"/>
              </a:rPr>
              <a:t>Документация живёт в коде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 — прямо над классами и методами, а не в отдельных файлах</a:t>
            </a:r>
            <a:br>
              <a:rPr lang="ru-RU" sz="1800" dirty="0">
                <a:ea typeface="+mn-lt"/>
                <a:cs typeface="+mn-lt"/>
              </a:rPr>
            </a:br>
            <a:r>
              <a:rPr lang="ru-RU" sz="1800" b="1" dirty="0">
                <a:solidFill>
                  <a:schemeClr val="tx1"/>
                </a:solidFill>
                <a:ea typeface="+mn-lt"/>
                <a:cs typeface="+mn-lt"/>
              </a:rPr>
              <a:t>Одна команда </a:t>
            </a:r>
            <a:r>
              <a:rPr lang="ru-RU" sz="1800" dirty="0" err="1">
                <a:solidFill>
                  <a:schemeClr val="tx1"/>
                </a:solidFill>
                <a:latin typeface="Consolas"/>
              </a:rPr>
              <a:t>javadoc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 превращает комментарии в профессиональную HTML-документацию</a:t>
            </a:r>
            <a:br>
              <a:rPr lang="ru-RU" sz="1800" dirty="0">
                <a:ea typeface="+mn-lt"/>
                <a:cs typeface="+mn-lt"/>
              </a:rPr>
            </a:b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ru-RU" sz="1800" b="1" dirty="0">
                <a:solidFill>
                  <a:schemeClr val="tx1"/>
                </a:solidFill>
                <a:ea typeface="+mn-lt"/>
                <a:cs typeface="+mn-lt"/>
              </a:rPr>
              <a:t>IDE показывает подсказки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 — главная ежедневная польза при разработке</a:t>
            </a:r>
            <a:br>
              <a:rPr lang="ru-RU" sz="1800" dirty="0">
                <a:ea typeface="+mn-lt"/>
                <a:cs typeface="+mn-lt"/>
              </a:rPr>
            </a:br>
            <a:r>
              <a:rPr lang="ru-RU" sz="1800" b="1" dirty="0">
                <a:solidFill>
                  <a:schemeClr val="tx1"/>
                </a:solidFill>
                <a:ea typeface="+mn-lt"/>
                <a:cs typeface="+mn-lt"/>
              </a:rPr>
              <a:t>Это контракт с будущим</a:t>
            </a:r>
            <a:r>
              <a:rPr lang="ru-RU" sz="1800" dirty="0">
                <a:solidFill>
                  <a:schemeClr val="tx1"/>
                </a:solidFill>
                <a:ea typeface="+mn-lt"/>
                <a:cs typeface="+mn-lt"/>
              </a:rPr>
              <a:t> — гарантия, что код останется понятным через месяцы и годы</a:t>
            </a:r>
            <a:endParaRPr lang="ru-RU" sz="1800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ru-RU" sz="3200" dirty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63489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Retrospect</vt:lpstr>
      <vt:lpstr>Javadoc</vt:lpstr>
      <vt:lpstr>Что такое Javadoc и зачем он нужен </vt:lpstr>
      <vt:lpstr>Синтаксис и структура Javadoc</vt:lpstr>
      <vt:lpstr>HTML в Javadoc</vt:lpstr>
      <vt:lpstr>Генерация javadoc в терминале</vt:lpstr>
      <vt:lpstr>Документация пакетов</vt:lpstr>
      <vt:lpstr>Пример</vt:lpstr>
      <vt:lpstr>Генерация javadoc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146</cp:revision>
  <dcterms:created xsi:type="dcterms:W3CDTF">2025-12-06T11:21:06Z</dcterms:created>
  <dcterms:modified xsi:type="dcterms:W3CDTF">2025-12-06T12:04:36Z</dcterms:modified>
</cp:coreProperties>
</file>