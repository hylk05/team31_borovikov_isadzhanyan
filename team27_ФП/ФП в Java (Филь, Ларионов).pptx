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Заголовок">
    <p:bg>
      <p:bgPr>
        <a:solidFill>
          <a:srgbClr val="0034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Автор и дата"/>
          <p:cNvSpPr txBox="1"/>
          <p:nvPr>
            <p:ph type="body" sz="quarter" idx="21" hasCustomPrompt="1"/>
          </p:nvPr>
        </p:nvSpPr>
        <p:spPr>
          <a:xfrm>
            <a:off x="1201340" y="118471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>
                <a:solidFill>
                  <a:srgbClr val="FFFFFF"/>
                </a:solidFill>
              </a:defRPr>
            </a:lvl1pPr>
          </a:lstStyle>
          <a:p>
            <a:pPr/>
            <a:r>
              <a:t>Автор и дата</a:t>
            </a:r>
          </a:p>
        </p:txBody>
      </p:sp>
      <p:sp>
        <p:nvSpPr>
          <p:cNvPr id="12" name="Заголовок презентации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>
                <a:solidFill>
                  <a:srgbClr val="FFFFFF"/>
                </a:solidFill>
              </a:defRPr>
            </a:lvl1pPr>
          </a:lstStyle>
          <a:p>
            <a:pPr/>
            <a:r>
              <a:t>Заголовок презентации</a:t>
            </a:r>
          </a:p>
        </p:txBody>
      </p:sp>
      <p:sp>
        <p:nvSpPr>
          <p:cNvPr id="13" name="Уровень текста 1…"/>
          <p:cNvSpPr txBox="1"/>
          <p:nvPr>
            <p:ph type="body" sz="quarter" idx="1" hasCustomPrompt="1"/>
          </p:nvPr>
        </p:nvSpPr>
        <p:spPr>
          <a:xfrm>
            <a:off x="1201342" y="72104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5pPr>
          </a:lstStyle>
          <a:p>
            <a:pPr/>
            <a:r>
              <a:t>Подзаголовок презентации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 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Верхушка воздушного шара крупным планом, вид сверху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Заголовок презентации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>
                <a:solidFill>
                  <a:srgbClr val="FFFFFF"/>
                </a:solidFill>
              </a:defRPr>
            </a:lvl1pPr>
          </a:lstStyle>
          <a:p>
            <a:pPr/>
            <a:r>
              <a:t>Заголовок презентации</a:t>
            </a:r>
          </a:p>
        </p:txBody>
      </p:sp>
      <p:sp>
        <p:nvSpPr>
          <p:cNvPr id="23" name="Автор и дата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Автор и дата</a:t>
            </a:r>
          </a:p>
        </p:txBody>
      </p:sp>
      <p:sp>
        <p:nvSpPr>
          <p:cNvPr id="24" name="Уровень текста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5pPr>
          </a:lstStyle>
          <a:p>
            <a:pPr/>
            <a:r>
              <a:t>Подзаголовок презентации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 фото (вариант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Воздушный шар крупным планом, вид снизу"/>
          <p:cNvSpPr/>
          <p:nvPr>
            <p:ph type="pic" idx="21"/>
          </p:nvPr>
        </p:nvSpPr>
        <p:spPr>
          <a:xfrm>
            <a:off x="9226574" y="1270000"/>
            <a:ext cx="16840152" cy="1118443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Заголовок слайда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Заголовок слайда</a:t>
            </a:r>
          </a:p>
        </p:txBody>
      </p:sp>
      <p:sp>
        <p:nvSpPr>
          <p:cNvPr id="34" name="Уровень текста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Подзаголовок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Номер слайда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 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Заголовок слайда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43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44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 и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247900"/>
            <a:ext cx="9779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61" name="Уровень текста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Вид снизу на воздушные шары на фоне голубого неба"/>
          <p:cNvSpPr/>
          <p:nvPr>
            <p:ph type="pic" idx="22"/>
          </p:nvPr>
        </p:nvSpPr>
        <p:spPr>
          <a:xfrm>
            <a:off x="8432800" y="1263848"/>
            <a:ext cx="16850011" cy="1118820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Заголовок слайда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6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, видео — мелк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247900"/>
            <a:ext cx="9779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72" name="Уровень текста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Заголовок слайда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7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 и видеотрансляция — крупн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247900"/>
            <a:ext cx="9779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82" name="Уровень текста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Заголовок слайда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8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Раздел">
    <p:bg>
      <p:bgPr>
        <a:solidFill>
          <a:srgbClr val="0034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Заголовок раздела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Заголовок раздела</a:t>
            </a:r>
          </a:p>
        </p:txBody>
      </p:sp>
      <p:sp>
        <p:nvSpPr>
          <p:cNvPr id="92" name="Номер слайда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Заголовок слайда"/>
          <p:cNvSpPr txBox="1"/>
          <p:nvPr>
            <p:ph type="title" hasCustomPrompt="1"/>
          </p:nvPr>
        </p:nvSpPr>
        <p:spPr>
          <a:xfrm>
            <a:off x="1206500" y="952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100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247900"/>
            <a:ext cx="21971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10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овестка д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Заголовок повестки дня"/>
          <p:cNvSpPr txBox="1"/>
          <p:nvPr>
            <p:ph type="title" hasCustomPrompt="1"/>
          </p:nvPr>
        </p:nvSpPr>
        <p:spPr>
          <a:xfrm>
            <a:off x="1206500" y="952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повестки дня</a:t>
            </a:r>
          </a:p>
        </p:txBody>
      </p:sp>
      <p:sp>
        <p:nvSpPr>
          <p:cNvPr id="109" name="Подзаголовок повестки дня"/>
          <p:cNvSpPr txBox="1"/>
          <p:nvPr>
            <p:ph type="body" sz="quarter" idx="21" hasCustomPrompt="1"/>
          </p:nvPr>
        </p:nvSpPr>
        <p:spPr>
          <a:xfrm>
            <a:off x="1206500" y="2247900"/>
            <a:ext cx="21971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повестки дня</a:t>
            </a:r>
          </a:p>
        </p:txBody>
      </p:sp>
      <p:sp>
        <p:nvSpPr>
          <p:cNvPr id="110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Темы повестки дня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Информационное сообщ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Уровень текста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Информационное сообщение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Важный фа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Уровень текста 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5pPr>
          </a:lstStyle>
          <a:p>
            <a:pPr/>
            <a:r>
              <a:t>100 %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Информация о факте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Информация о факте</a:t>
            </a:r>
          </a:p>
        </p:txBody>
      </p:sp>
      <p:sp>
        <p:nvSpPr>
          <p:cNvPr id="12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Авторство"/>
          <p:cNvSpPr txBox="1"/>
          <p:nvPr>
            <p:ph type="body" sz="quarter" idx="21" hasCustomPrompt="1"/>
          </p:nvPr>
        </p:nvSpPr>
        <p:spPr>
          <a:xfrm>
            <a:off x="2480825" y="10675453"/>
            <a:ext cx="201492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Авторство</a:t>
            </a:r>
          </a:p>
        </p:txBody>
      </p:sp>
      <p:sp>
        <p:nvSpPr>
          <p:cNvPr id="136" name="Уровень текста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«Важная цитата»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 (3 шт.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Вид снизу на воздушные шары на фоне голубого неба"/>
          <p:cNvSpPr/>
          <p:nvPr>
            <p:ph type="pic" sz="quarter" idx="21"/>
          </p:nvPr>
        </p:nvSpPr>
        <p:spPr>
          <a:xfrm>
            <a:off x="15436504" y="1270000"/>
            <a:ext cx="8167167" cy="5422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Верхушка воздушного шара крупным планом, вид сверху"/>
          <p:cNvSpPr/>
          <p:nvPr>
            <p:ph type="pic" sz="quarter" idx="22"/>
          </p:nvPr>
        </p:nvSpPr>
        <p:spPr>
          <a:xfrm>
            <a:off x="15461772" y="7085972"/>
            <a:ext cx="8148414" cy="543227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Вид снизу на воздушные шары на фоне голубого неба"/>
          <p:cNvSpPr/>
          <p:nvPr>
            <p:ph type="pic" idx="23"/>
          </p:nvPr>
        </p:nvSpPr>
        <p:spPr>
          <a:xfrm>
            <a:off x="-124635" y="1270000"/>
            <a:ext cx="16859219" cy="1123947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Вид снизу на воздушные шары на фоне голубого неба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слайда"/>
          <p:cNvSpPr txBox="1"/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Заголовок слайда</a:t>
            </a:r>
          </a:p>
        </p:txBody>
      </p:sp>
      <p:sp>
        <p:nvSpPr>
          <p:cNvPr id="3" name="Уровень текста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Номер слайда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tif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tif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abr.com/ru/companies/reksoft/articles/892242/" TargetMode="External"/><Relationship Id="rId3" Type="http://schemas.openxmlformats.org/officeDocument/2006/relationships/hyperlink" Target="https://habr.com/ru/articles/437038/" TargetMode="External"/><Relationship Id="rId4" Type="http://schemas.openxmlformats.org/officeDocument/2006/relationships/hyperlink" Target="https://javarush.com/groups/posts/592-java-functional-interfaces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Филь Фёдор, Ларионов Сергей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Филь Фёдор, Ларионов Сергей</a:t>
            </a:r>
          </a:p>
        </p:txBody>
      </p:sp>
      <p:sp>
        <p:nvSpPr>
          <p:cNvPr id="172" name="Функциональное программирование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Функциональное программирование</a:t>
            </a:r>
          </a:p>
        </p:txBody>
      </p:sp>
      <p:sp>
        <p:nvSpPr>
          <p:cNvPr id="173" name="В Java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В Java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Краткий экскурс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Краткий экскурс</a:t>
            </a:r>
          </a:p>
        </p:txBody>
      </p:sp>
      <p:sp>
        <p:nvSpPr>
          <p:cNvPr id="176" name="В историю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В историю</a:t>
            </a:r>
          </a:p>
        </p:txBody>
      </p:sp>
      <p:sp>
        <p:nvSpPr>
          <p:cNvPr id="177" name="Текст пункта на слайде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78" name="Изображение" descr="Изображение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74826" y="3719701"/>
            <a:ext cx="12434348" cy="931361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Основные парадигмы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Основные парадигмы</a:t>
            </a:r>
          </a:p>
        </p:txBody>
      </p:sp>
      <p:sp>
        <p:nvSpPr>
          <p:cNvPr id="181" name="Программирования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Программирования</a:t>
            </a:r>
          </a:p>
        </p:txBody>
      </p:sp>
      <p:sp>
        <p:nvSpPr>
          <p:cNvPr id="182" name="Текст пункта на слайде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83" name="Изображение" descr="Изображение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755017" y="3991089"/>
            <a:ext cx="14873966" cy="877084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Ключевые концепци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Ключевые концепции</a:t>
            </a:r>
          </a:p>
        </p:txBody>
      </p:sp>
      <p:sp>
        <p:nvSpPr>
          <p:cNvPr id="186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7" name="Иммутабельность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Иммутабельность</a:t>
            </a:r>
          </a:p>
          <a:p>
            <a:pPr/>
            <a:r>
              <a:t>Чистые функции</a:t>
            </a:r>
          </a:p>
          <a:p>
            <a:pPr/>
            <a:r>
              <a:t>Функции высшего порядка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Функциональные интерфейсы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Функциональные интерфейсы</a:t>
            </a:r>
          </a:p>
        </p:txBody>
      </p:sp>
      <p:sp>
        <p:nvSpPr>
          <p:cNvPr id="190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1" name="Текст пункта на слайде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92" name="Снимок экрана 2025-12-13 в 13.35.19.png" descr="Снимок экрана 2025-12-13 в 13.35.19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636201" y="3134361"/>
            <a:ext cx="19111598" cy="794397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Лямбда выражени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Лямбда выражения</a:t>
            </a:r>
          </a:p>
        </p:txBody>
      </p:sp>
      <p:sp>
        <p:nvSpPr>
          <p:cNvPr id="195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6" name="Текст пункта на слайде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97" name="Снимок экрана 2025-12-13 в 01.28.17.png" descr="Снимок экрана 2025-12-13 в 01.28.17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562082" y="3631905"/>
            <a:ext cx="17259836" cy="676856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Ссылки на методы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Ссылки на методы</a:t>
            </a:r>
          </a:p>
        </p:txBody>
      </p:sp>
      <p:sp>
        <p:nvSpPr>
          <p:cNvPr id="200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1" name="Ссылка на статический метод:…"/>
          <p:cNvSpPr txBox="1"/>
          <p:nvPr>
            <p:ph type="body" idx="1"/>
          </p:nvPr>
        </p:nvSpPr>
        <p:spPr>
          <a:xfrm>
            <a:off x="1206500" y="3371723"/>
            <a:ext cx="21971000" cy="8256012"/>
          </a:xfrm>
          <a:prstGeom prst="rect">
            <a:avLst/>
          </a:prstGeom>
        </p:spPr>
        <p:txBody>
          <a:bodyPr/>
          <a:lstStyle/>
          <a:p>
            <a:pPr/>
            <a:r>
              <a:t>Ссылка на статический метод:</a:t>
            </a:r>
          </a:p>
          <a:p>
            <a:pPr/>
            <a:r>
              <a:t>Ссылка на метод экземпляра конкретного объекта:</a:t>
            </a:r>
          </a:p>
          <a:p>
            <a:pPr/>
          </a:p>
          <a:p>
            <a:pPr/>
            <a:r>
              <a:t>Ссылка на метод экземпляра произвольного объекта:</a:t>
            </a:r>
          </a:p>
          <a:p>
            <a:pPr/>
          </a:p>
          <a:p>
            <a:pPr/>
            <a:r>
              <a:t>Ссылка на конструктор:</a:t>
            </a:r>
          </a:p>
        </p:txBody>
      </p:sp>
      <p:pic>
        <p:nvPicPr>
          <p:cNvPr id="202" name="Снимок экрана 2025-12-13 в 01.33.10.png" descr="Снимок экрана 2025-12-13 в 01.33.10.png"/>
          <p:cNvPicPr>
            <a:picLocks noChangeAspect="1"/>
          </p:cNvPicPr>
          <p:nvPr/>
        </p:nvPicPr>
        <p:blipFill>
          <a:blip r:embed="rId2">
            <a:extLst/>
          </a:blip>
          <a:srcRect l="10139" t="0" r="0" b="0"/>
          <a:stretch>
            <a:fillRect/>
          </a:stretch>
        </p:blipFill>
        <p:spPr>
          <a:xfrm>
            <a:off x="11147341" y="3580622"/>
            <a:ext cx="12358921" cy="630895"/>
          </a:xfrm>
          <a:prstGeom prst="rect">
            <a:avLst/>
          </a:prstGeom>
          <a:ln w="12700">
            <a:miter lim="400000"/>
          </a:ln>
        </p:spPr>
      </p:pic>
      <p:pic>
        <p:nvPicPr>
          <p:cNvPr id="203" name="Снимок экрана 2025-12-13 в 01.36.12.png" descr="Снимок экрана 2025-12-13 в 01.36.12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616269" y="5581261"/>
            <a:ext cx="12472118" cy="1385792"/>
          </a:xfrm>
          <a:prstGeom prst="rect">
            <a:avLst/>
          </a:prstGeom>
          <a:ln w="12700">
            <a:miter lim="400000"/>
          </a:ln>
        </p:spPr>
      </p:pic>
      <p:pic>
        <p:nvPicPr>
          <p:cNvPr id="204" name="Снимок экрана 2025-12-13 в 01.38.17.png" descr="Снимок экрана 2025-12-13 в 01.38.17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672785" y="7989320"/>
            <a:ext cx="12359086" cy="774379"/>
          </a:xfrm>
          <a:prstGeom prst="rect">
            <a:avLst/>
          </a:prstGeom>
          <a:ln w="12700">
            <a:miter lim="400000"/>
          </a:ln>
        </p:spPr>
      </p:pic>
      <p:pic>
        <p:nvPicPr>
          <p:cNvPr id="205" name="Снимок экрана 2025-12-13 в 01.40.33.png" descr="Снимок экрана 2025-12-13 в 01.40.33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689877" y="10535501"/>
            <a:ext cx="14053447" cy="853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tream API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Stream API</a:t>
            </a:r>
          </a:p>
        </p:txBody>
      </p:sp>
      <p:sp>
        <p:nvSpPr>
          <p:cNvPr id="208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9" name="Текст пункта на слайде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210" name="Снимок экрана 2025-12-13 в 01.44.00.png" descr="Снимок экрана 2025-12-13 в 01.44.0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25587" y="3270945"/>
            <a:ext cx="19332826" cy="717411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Промежуточные операции Stream API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Промежуточные операции Stream API</a:t>
            </a:r>
          </a:p>
        </p:txBody>
      </p:sp>
      <p:sp>
        <p:nvSpPr>
          <p:cNvPr id="213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4" name="filter(Predicate&lt;T&gt;) — отбор элементов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filter(Predicate&lt;T&gt;) — отбор элементов</a:t>
            </a:r>
          </a:p>
          <a:p>
            <a:pPr/>
            <a:r>
              <a:t>distinct() — удаление дубликатов</a:t>
            </a:r>
          </a:p>
          <a:p>
            <a:pPr/>
            <a:r>
              <a:t>limit(long n) — ограничение количества</a:t>
            </a:r>
          </a:p>
          <a:p>
            <a:pPr/>
            <a:r>
              <a:t>skip(long n) — пропуск первых элементов</a:t>
            </a:r>
          </a:p>
          <a:p>
            <a:pPr/>
            <a:r>
              <a:t>map(Function&lt;T, R&gt;) — преобразование элемента в другой тип</a:t>
            </a:r>
          </a:p>
          <a:p>
            <a:pPr/>
            <a:r>
              <a:t>flatMap(Function&lt;T, Stream&lt;R&gt;&gt;) — "разворачивание" вложенных структур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Коллекторы (Сollectors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Коллекторы (Сollectors)</a:t>
            </a:r>
          </a:p>
        </p:txBody>
      </p:sp>
      <p:sp>
        <p:nvSpPr>
          <p:cNvPr id="217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8" name="В коллекции…"/>
          <p:cNvSpPr txBox="1"/>
          <p:nvPr>
            <p:ph type="body" idx="1"/>
          </p:nvPr>
        </p:nvSpPr>
        <p:spPr>
          <a:xfrm>
            <a:off x="1206500" y="2257973"/>
            <a:ext cx="21971000" cy="8256012"/>
          </a:xfrm>
          <a:prstGeom prst="rect">
            <a:avLst/>
          </a:prstGeom>
        </p:spPr>
        <p:txBody>
          <a:bodyPr/>
          <a:lstStyle/>
          <a:p>
            <a:pPr/>
            <a:r>
              <a:t>В коллекции</a:t>
            </a:r>
          </a:p>
          <a:p>
            <a:pPr/>
          </a:p>
          <a:p>
            <a:pPr/>
          </a:p>
          <a:p>
            <a:pPr/>
          </a:p>
          <a:p>
            <a:pPr/>
            <a:r>
              <a:t>Группировка</a:t>
            </a:r>
          </a:p>
        </p:txBody>
      </p:sp>
      <p:pic>
        <p:nvPicPr>
          <p:cNvPr id="219" name="Снимок экрана 2025-12-13 в 01.59.56.png" descr="Снимок экрана 2025-12-13 в 01.59.56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30858" y="3099310"/>
            <a:ext cx="15848035" cy="3441531"/>
          </a:xfrm>
          <a:prstGeom prst="rect">
            <a:avLst/>
          </a:prstGeom>
          <a:ln w="12700">
            <a:miter lim="400000"/>
          </a:ln>
        </p:spPr>
      </p:pic>
      <p:pic>
        <p:nvPicPr>
          <p:cNvPr id="220" name="Снимок экрана 2025-12-13 в 02.01.38.png" descr="Снимок экрана 2025-12-13 в 02.01.38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44658" y="7989806"/>
            <a:ext cx="17933784" cy="441517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Коллекторы (Сollectors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Коллекторы (Сollectors)</a:t>
            </a:r>
          </a:p>
        </p:txBody>
      </p:sp>
      <p:sp>
        <p:nvSpPr>
          <p:cNvPr id="223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4" name="Разбиение…"/>
          <p:cNvSpPr txBox="1"/>
          <p:nvPr>
            <p:ph type="body" idx="1"/>
          </p:nvPr>
        </p:nvSpPr>
        <p:spPr>
          <a:xfrm>
            <a:off x="1206500" y="2234277"/>
            <a:ext cx="21971001" cy="8256012"/>
          </a:xfrm>
          <a:prstGeom prst="rect">
            <a:avLst/>
          </a:prstGeom>
        </p:spPr>
        <p:txBody>
          <a:bodyPr/>
          <a:lstStyle/>
          <a:p>
            <a:pPr/>
            <a:r>
              <a:t>Разбиение</a:t>
            </a:r>
          </a:p>
          <a:p>
            <a:pPr/>
          </a:p>
          <a:p>
            <a:pPr/>
            <a:r>
              <a:t>Агрегация</a:t>
            </a:r>
          </a:p>
          <a:p>
            <a:pPr/>
          </a:p>
          <a:p>
            <a:pPr/>
          </a:p>
          <a:p>
            <a:pPr/>
            <a:r>
              <a:t>Объединение строк</a:t>
            </a:r>
          </a:p>
        </p:txBody>
      </p:sp>
      <p:pic>
        <p:nvPicPr>
          <p:cNvPr id="225" name="Снимок экрана 2025-12-13 в 02.04.25.png" descr="Снимок экрана 2025-12-13 в 02.04.25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37771" y="3074306"/>
            <a:ext cx="16717244" cy="943412"/>
          </a:xfrm>
          <a:prstGeom prst="rect">
            <a:avLst/>
          </a:prstGeom>
          <a:ln w="12700">
            <a:miter lim="400000"/>
          </a:ln>
        </p:spPr>
      </p:pic>
      <p:pic>
        <p:nvPicPr>
          <p:cNvPr id="226" name="Снимок экрана 2025-12-13 в 02.05.38.png" descr="Снимок экрана 2025-12-13 в 02.05.38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53700" y="5558824"/>
            <a:ext cx="15101008" cy="2090355"/>
          </a:xfrm>
          <a:prstGeom prst="rect">
            <a:avLst/>
          </a:prstGeom>
          <a:ln w="12700">
            <a:miter lim="400000"/>
          </a:ln>
        </p:spPr>
      </p:pic>
      <p:pic>
        <p:nvPicPr>
          <p:cNvPr id="227" name="Снимок экрана 2025-12-13 в 02.07.18.png" descr="Снимок экрана 2025-12-13 в 02.07.18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96828" y="9190286"/>
            <a:ext cx="11397133" cy="79919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Паттерны функционального программировани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121354">
              <a:defRPr spc="-147" sz="7394"/>
            </a:lvl1pPr>
          </a:lstStyle>
          <a:p>
            <a:pPr/>
            <a:r>
              <a:t>Паттерны функционального программирования</a:t>
            </a:r>
          </a:p>
        </p:txBody>
      </p:sp>
      <p:sp>
        <p:nvSpPr>
          <p:cNvPr id="230" name="Стратегия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Стратегия </a:t>
            </a:r>
          </a:p>
        </p:txBody>
      </p:sp>
      <p:sp>
        <p:nvSpPr>
          <p:cNvPr id="231" name="Текст пункта на слайде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232" name="Снимок экрана 2025-12-13 в 02.11.44.png" descr="Снимок экрана 2025-12-13 в 02.11.4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63271" y="4215662"/>
            <a:ext cx="19681448" cy="439488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Паттерны функционального программировани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121354">
              <a:defRPr spc="-147" sz="7394"/>
            </a:lvl1pPr>
          </a:lstStyle>
          <a:p>
            <a:pPr/>
            <a:r>
              <a:t>Паттерны функционального программирования</a:t>
            </a:r>
          </a:p>
        </p:txBody>
      </p:sp>
      <p:sp>
        <p:nvSpPr>
          <p:cNvPr id="235" name="Цепочка обязанностей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Цепочка обязанностей</a:t>
            </a:r>
          </a:p>
        </p:txBody>
      </p:sp>
      <p:sp>
        <p:nvSpPr>
          <p:cNvPr id="236" name="Текст пункта на слайде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237" name="Снимок экрана 2025-12-13 в 02.14.27.png" descr="Снимок экрана 2025-12-13 в 02.14.27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35861" y="4088400"/>
            <a:ext cx="17127463" cy="337359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Паттерны функционального программировани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121354">
              <a:defRPr spc="-147" sz="7394"/>
            </a:lvl1pPr>
          </a:lstStyle>
          <a:p>
            <a:pPr/>
            <a:r>
              <a:t>Паттерны функционального программирования</a:t>
            </a:r>
          </a:p>
        </p:txBody>
      </p:sp>
      <p:sp>
        <p:nvSpPr>
          <p:cNvPr id="240" name="Заместитель для ленивых вычислений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Заместитель для ленивых вычислений</a:t>
            </a:r>
          </a:p>
        </p:txBody>
      </p:sp>
      <p:sp>
        <p:nvSpPr>
          <p:cNvPr id="241" name="Текст пункта на слайде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242" name="Снимок экрана 2025-12-13 в 13.13.21.png" descr="Снимок экрана 2025-12-13 в 13.13.2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92459" y="4186097"/>
            <a:ext cx="14953874" cy="609960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Ограничения ФП в Java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Ограничения ФП в Java</a:t>
            </a:r>
          </a:p>
        </p:txBody>
      </p:sp>
      <p:sp>
        <p:nvSpPr>
          <p:cNvPr id="245" name="Отсутствие иммутабельности на уровне языка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Отсутствие иммутабельности на уровне языка</a:t>
            </a:r>
          </a:p>
        </p:txBody>
      </p:sp>
      <p:sp>
        <p:nvSpPr>
          <p:cNvPr id="246" name="Нет ключевых слов для immutable классов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Нет ключевых слов для immutable классов</a:t>
            </a:r>
          </a:p>
          <a:p>
            <a:pPr/>
            <a:r>
              <a:t>Требуется ручное создание для неизменяемых классов</a:t>
            </a:r>
          </a:p>
          <a:p>
            <a:pPr/>
            <a:r>
              <a:t>Коллекции по умолчанию изменяемые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Ограничения ФП в Java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Ограничения ФП в Java</a:t>
            </a:r>
          </a:p>
        </p:txBody>
      </p:sp>
      <p:sp>
        <p:nvSpPr>
          <p:cNvPr id="249" name="Ограниченная поддержка рекурсии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Ограниченная поддержка рекурсии</a:t>
            </a:r>
          </a:p>
        </p:txBody>
      </p:sp>
      <p:sp>
        <p:nvSpPr>
          <p:cNvPr id="250" name="Нет оптимизации хвостовой рекурсии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Нет оптимизации хвостовой рекурсии</a:t>
            </a:r>
          </a:p>
          <a:p>
            <a:pPr/>
            <a:r>
              <a:t>Риск StackOverflowError для глубокой рекурсии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Ограничения ФП в Java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Ограничения ФП в Java</a:t>
            </a:r>
          </a:p>
        </p:txBody>
      </p:sp>
      <p:sp>
        <p:nvSpPr>
          <p:cNvPr id="253" name="Смешение парадигм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Смешение парадигм</a:t>
            </a:r>
          </a:p>
        </p:txBody>
      </p:sp>
      <p:sp>
        <p:nvSpPr>
          <p:cNvPr id="254" name="Необходимость интеграции с существующим ООП-кодом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Необходимость интеграции с существующим ООП-кодом</a:t>
            </a:r>
          </a:p>
          <a:p>
            <a:pPr/>
            <a:r>
              <a:t>Возможность гибридных антипаттернов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Ограничения ФП в Java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Ограничения ФП в Java</a:t>
            </a:r>
          </a:p>
        </p:txBody>
      </p:sp>
      <p:sp>
        <p:nvSpPr>
          <p:cNvPr id="257" name="Производительность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Производительность</a:t>
            </a:r>
          </a:p>
        </p:txBody>
      </p:sp>
      <p:sp>
        <p:nvSpPr>
          <p:cNvPr id="258" name="Накладные расходы на создание лямбда-объектов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Накладные расходы на создание лямбда-объектов</a:t>
            </a:r>
          </a:p>
          <a:p>
            <a:pPr/>
            <a:r>
              <a:t>Stream API может быть медленнее циклов для простых операций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Источник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Источники</a:t>
            </a:r>
          </a:p>
        </p:txBody>
      </p:sp>
      <p:sp>
        <p:nvSpPr>
          <p:cNvPr id="261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62" name="Функциональное программирование в Java - https://habr.com/ru/companies/reksoft/articles/892242/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Функциональное программирование в Java - </a:t>
            </a:r>
            <a:r>
              <a:rPr u="sng">
                <a:hlinkClick r:id="rId2" invalidUrl="" action="" tgtFrame="" tooltip="" history="1" highlightClick="0" endSnd="0"/>
              </a:rPr>
              <a:t>https://habr.com/ru/companies/reksoft/articles/892242/</a:t>
            </a:r>
          </a:p>
          <a:p>
            <a:pPr/>
            <a:r>
              <a:t>Перевод руководства по Stream API от Benjamin Winterberg - </a:t>
            </a:r>
            <a:r>
              <a:rPr u="sng">
                <a:hlinkClick r:id="rId3" invalidUrl="" action="" tgtFrame="" tooltip="" history="1" highlightClick="0" endSnd="0"/>
              </a:rPr>
              <a:t>https://habr.com/ru/articles/437038/</a:t>
            </a:r>
          </a:p>
          <a:p>
            <a:pPr/>
            <a:r>
              <a:t>Java functional interfaces - </a:t>
            </a:r>
            <a:r>
              <a:rPr u="sng">
                <a:hlinkClick r:id="rId4" invalidUrl="" action="" tgtFrame="" tooltip="" history="1" highlightClick="0" endSnd="0"/>
              </a:rPr>
              <a:t>https://javarush.com/groups/posts/592-java-functional-interfaces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0_BasicColor">
  <a:themeElements>
    <a:clrScheme name="30_BasicColor">
      <a:dk1>
        <a:srgbClr val="000000"/>
      </a:dk1>
      <a:lt1>
        <a:srgbClr val="003462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0_BasicColor">
  <a:themeElements>
    <a:clrScheme name="30_BasicColor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